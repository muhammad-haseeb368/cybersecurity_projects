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Muhammad Haseeb. I am presenting as a junior network analyst, and I completed this project individually. My scenario is opening a secure website, and I will trace it from the browser to the web server and back, layer by layer, using the TCP/IP model. I will cover DNS, TCP, TLS, encapsulation, addressing, devices, a TCP and UDP comparison, and one real troubleshooting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types a secure URL. A browser cannot send anything to a name, so first it needs the server's IP address, and DNS provides that. Next the browser opens a TCP connection to the server, normally on port 443. Then TLS runs on top of that connection to authenticate the server and set up encryption. Only after that does the browser send the HTTPS request. The web server processes it and sends the response back along the same kind of path. Everything I show later is a closer look at one of these six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TCP/IP is usually shown with four layers and OSI with seven. The Application layer of TCP/IP covers what OSI splits into Application, Presentation and Session, because real protocols like HTTP and DNS handle those functions inside the application. Transport matches OSI Transport. Internet matches OSI Network, where IP lives. Network Access covers Data Link and Physical, for example Ethernet and Wi-Fi. TCP/IP groups layers this way because it was designed around working protocols, while OSI is a more detailed reference model. For my scenario, the examples on the right show where each protocol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Humans use domain names, but IP routes packets using addresses, so DNS translates between them. The browser asks a DNS resolver, often provided by the router or ISP. The resolver returns the IP address, possibly after asking other DNS servers. DNS messages commonly use UDP port 53 because queries are small. TCP port 53 can also be used, for example when a response is too large or for zone transfers. DNS is an Application layer protocol. Remember this, because a DNS failure looks like an internet failure to the user but is very different to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data moves, TCP sets up a connection with a three-way handshake. The client sends a SYN to say it wants to connect and proposes a starting sequence number. The server replies with SYN and ACK, acknowledging the client and sending its own sequence number. The client sends a final ACK. Now both sides have agreed on sequence numbers and the connection is established. For HTTPS over TCP, the destination port is 443 and the client uses a temporary source port. The reliability TCP provides, such as acknowledgements and retransmission, depends on this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defines the request and response messages. On its own it is readable by anyone on the path. TLS sits between HTTP and TCP logically and provides authentication of the server through its certificate, encryption for confidentiality, and integrity checking so tampering is detected. HTTP carried inside TLS is HTTPS. One important accuracy point: TCP does not encrypt anything, TLS does. Also, HTTP/1.1 and HTTP/2 normally run over TCP, whereas HTTP/3 uses QUIC, which runs over UDP and integrates TLS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data moves down the sender's stack, each layer wraps it with its own control information. The application data gets a TCP header with ports and sequence numbers, making a segment. IP adds source and destination IP addresses, making a packet. The network access layer adds an Ethernet or Wi-Fi header with MAC addresses, and a trailer, making a frame, which is sent as bits. The receiver does the reverse, which is decapsulation: it removes the frame header, then the IP header, then the TCP header, and delivers the data to the application. Each layer only reads its own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packet journey diagram. On the left is the sender, my laptop with the browser and the four TCP/IP layers. The request goes through the home router, the ISP router and Internet routers to the web server on the right, shown by the teal arrow. The orange arrow shows the response returning. Routers work up to the Internet layer: they read the IP header and forward the packet. The source and destination IP addresses stay the same end to end, apart from NAT at the home router, which rewrites the private source address. MAC addresses only identify the next device on each local link, so they change at every hop. The destination port is 443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the protocols in my scenario by layer. For each one I list the protocol data unit, the addressing information it uses and its purpose. DNS and HTTPS are Application layer. TLS protects the HTTP data. TCP uses port numbers and its unit is the segment. IP uses source and destination addresses, and its unit is the packet. Ethernet or Wi-Fi uses MAC addresses and its unit is the frame. ARP is a small helper that finds the MAC address of the next hop on an IPv4 local network. Note that QUIC and HTTP/3 are the modern alternative over UDP.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is connection-oriented: it uses a handshake, sequence numbers, acknowledgements, retransmission and ordered delivery, with flow and congestion control. UDP is connectionless and gives no delivery, ordering or retransmission guarantees. UDP is not simply always faster. It has lower protocol overhead and no setup delay, so applications that prefer timeliness, or that handle loss themselves, use it. HTTPS and SSH use TCP. DNS queries and real-time media or gaming commonly use UDP. HTTP/3 shows the idea in modern form: QUIC, over UDP, builds its own reliability and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I chose is a DNS resolution failure. The user types https://example.com, but the client cannot turn the name into an IP address, so the browser never even starts a TCP connection. This is realistic because DNS servers can be unreachable, DHCP can hand out wrong DNS settings, or the client can be misconfigured. The important point is that the network may still be fine. A user may say the internet is down, but traffic to IP addresses could work perfectly. The job of the analyst is to tell these two situations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follow four stages: identify, diagnose, resolve, verify. First, identify the symptom: the site does not open. Check the client configuration with ipconfig slash all, to see the IP address, gateway and DNS servers. Then test IP connectivity with ping 8.8.8.8. If that works, routing works. Then test name resolution with nslookup example.com. If IP works but nslookup fails, the problem is DNS. Note ping to an IP address does not prove DNS works, and these are diagnostic tests, not proof until I see the results. Then I check the DNS server settings and availability on the client, router and DHCP. To resolve, I correct the DNS setting or use a working resolver suited to the network. To verify, I run nslookup again and reopen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whole journey: the user enters a URL, DNS resolves the domain, TCP builds a connection, TLS secures it, and the browser sends the HTTPS request. Each layer encapsulates the data, and routers forward the packets using IP addresses, with new frames on each link. The web server decapsulates the data, processes the request and sends the response, which returns the same way and is decapsulated by the browser. The layers cooperate: Application defines the message, Transport delivers it between processes using ports, Internet routes it between networks, and Network Access moves it across each link. Thank you, and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official IETF standards behind each protocol I described. I also declare that AI assistance was used to organise and draft the material, and that I reviewed and verified the content myself.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flipV="1">
            <a:off x="6583680" y="2743200"/>
            <a:ext cx="1097280" cy="365760"/>
          </a:xfrm>
          <a:prstGeom prst="line">
            <a:avLst/>
          </a:prstGeom>
          <a:noFill/>
          <a:ln w="19050">
            <a:solidFill>
              <a:srgbClr val="2C6C7A"/>
            </a:solidFill>
            <a:prstDash val="solid"/>
          </a:ln>
        </p:spPr>
      </p:sp>
      <p:sp>
        <p:nvSpPr>
          <p:cNvPr id="3" name="Shape 1"/>
          <p:cNvSpPr/>
          <p:nvPr/>
        </p:nvSpPr>
        <p:spPr>
          <a:xfrm>
            <a:off x="7680960" y="2743200"/>
            <a:ext cx="640080" cy="1005840"/>
          </a:xfrm>
          <a:prstGeom prst="line">
            <a:avLst/>
          </a:prstGeom>
          <a:noFill/>
          <a:ln w="19050">
            <a:solidFill>
              <a:srgbClr val="2C6C7A"/>
            </a:solidFill>
            <a:prstDash val="solid"/>
          </a:ln>
        </p:spPr>
      </p:sp>
      <p:sp>
        <p:nvSpPr>
          <p:cNvPr id="4" name="Shape 2"/>
          <p:cNvSpPr/>
          <p:nvPr/>
        </p:nvSpPr>
        <p:spPr>
          <a:xfrm flipV="1">
            <a:off x="7040880" y="3749040"/>
            <a:ext cx="1280160" cy="457200"/>
          </a:xfrm>
          <a:prstGeom prst="line">
            <a:avLst/>
          </a:prstGeom>
          <a:noFill/>
          <a:ln w="19050">
            <a:solidFill>
              <a:srgbClr val="2C6C7A"/>
            </a:solidFill>
            <a:prstDash val="solid"/>
          </a:ln>
        </p:spPr>
      </p:sp>
      <p:sp>
        <p:nvSpPr>
          <p:cNvPr id="5" name="Shape 3"/>
          <p:cNvSpPr/>
          <p:nvPr/>
        </p:nvSpPr>
        <p:spPr>
          <a:xfrm>
            <a:off x="7040880" y="4206240"/>
            <a:ext cx="914400" cy="365760"/>
          </a:xfrm>
          <a:prstGeom prst="line">
            <a:avLst/>
          </a:prstGeom>
          <a:noFill/>
          <a:ln w="19050">
            <a:solidFill>
              <a:srgbClr val="2C6C7A"/>
            </a:solidFill>
            <a:prstDash val="solid"/>
          </a:ln>
        </p:spPr>
      </p:sp>
      <p:sp>
        <p:nvSpPr>
          <p:cNvPr id="6" name="Shape 4"/>
          <p:cNvSpPr/>
          <p:nvPr/>
        </p:nvSpPr>
        <p:spPr>
          <a:xfrm>
            <a:off x="6473952" y="2999232"/>
            <a:ext cx="219456" cy="219456"/>
          </a:xfrm>
          <a:prstGeom prst="ellipse">
            <a:avLst/>
          </a:prstGeom>
          <a:solidFill>
            <a:srgbClr val="3FD0FF"/>
          </a:solidFill>
          <a:ln w="12700">
            <a:solidFill>
              <a:srgbClr val="0B1F3A"/>
            </a:solidFill>
            <a:prstDash val="solid"/>
          </a:ln>
        </p:spPr>
      </p:sp>
      <p:sp>
        <p:nvSpPr>
          <p:cNvPr id="7" name="Shape 5"/>
          <p:cNvSpPr/>
          <p:nvPr/>
        </p:nvSpPr>
        <p:spPr>
          <a:xfrm>
            <a:off x="7571232" y="2633472"/>
            <a:ext cx="219456" cy="219456"/>
          </a:xfrm>
          <a:prstGeom prst="ellipse">
            <a:avLst/>
          </a:prstGeom>
          <a:solidFill>
            <a:srgbClr val="3DFFB0"/>
          </a:solidFill>
          <a:ln w="12700">
            <a:solidFill>
              <a:srgbClr val="0B1F3A"/>
            </a:solidFill>
            <a:prstDash val="solid"/>
          </a:ln>
        </p:spPr>
      </p:sp>
      <p:sp>
        <p:nvSpPr>
          <p:cNvPr id="8" name="Shape 6"/>
          <p:cNvSpPr/>
          <p:nvPr/>
        </p:nvSpPr>
        <p:spPr>
          <a:xfrm>
            <a:off x="8211312" y="3639312"/>
            <a:ext cx="219456" cy="219456"/>
          </a:xfrm>
          <a:prstGeom prst="ellipse">
            <a:avLst/>
          </a:prstGeom>
          <a:solidFill>
            <a:srgbClr val="3FD0FF"/>
          </a:solidFill>
          <a:ln w="12700">
            <a:solidFill>
              <a:srgbClr val="0B1F3A"/>
            </a:solidFill>
            <a:prstDash val="solid"/>
          </a:ln>
        </p:spPr>
      </p:sp>
      <p:sp>
        <p:nvSpPr>
          <p:cNvPr id="9" name="Shape 7"/>
          <p:cNvSpPr/>
          <p:nvPr/>
        </p:nvSpPr>
        <p:spPr>
          <a:xfrm>
            <a:off x="6931152" y="4096512"/>
            <a:ext cx="219456" cy="219456"/>
          </a:xfrm>
          <a:prstGeom prst="ellipse">
            <a:avLst/>
          </a:prstGeom>
          <a:solidFill>
            <a:srgbClr val="3DFFB0"/>
          </a:solidFill>
          <a:ln w="12700">
            <a:solidFill>
              <a:srgbClr val="0B1F3A"/>
            </a:solidFill>
            <a:prstDash val="solid"/>
          </a:ln>
        </p:spPr>
      </p:sp>
      <p:sp>
        <p:nvSpPr>
          <p:cNvPr id="10" name="Shape 8"/>
          <p:cNvSpPr/>
          <p:nvPr/>
        </p:nvSpPr>
        <p:spPr>
          <a:xfrm>
            <a:off x="7845552" y="4462272"/>
            <a:ext cx="219456" cy="219456"/>
          </a:xfrm>
          <a:prstGeom prst="ellipse">
            <a:avLst/>
          </a:prstGeom>
          <a:solidFill>
            <a:srgbClr val="3FD0FF"/>
          </a:solidFill>
          <a:ln w="12700">
            <a:solidFill>
              <a:srgbClr val="0B1F3A"/>
            </a:solidFill>
            <a:prstDash val="solid"/>
          </a:ln>
        </p:spPr>
      </p:sp>
      <p:sp>
        <p:nvSpPr>
          <p:cNvPr id="11" name="Shape 9"/>
          <p:cNvSpPr/>
          <p:nvPr/>
        </p:nvSpPr>
        <p:spPr>
          <a:xfrm>
            <a:off x="0" y="0"/>
            <a:ext cx="228600" cy="5143500"/>
          </a:xfrm>
          <a:prstGeom prst="rect">
            <a:avLst/>
          </a:prstGeom>
          <a:solidFill>
            <a:srgbClr val="0E7C86"/>
          </a:solidFill>
          <a:ln w="12700">
            <a:solidFill>
              <a:srgbClr val="0E7C86"/>
            </a:solidFill>
            <a:prstDash val="solid"/>
          </a:ln>
        </p:spPr>
      </p:sp>
      <p:sp>
        <p:nvSpPr>
          <p:cNvPr id="12" name="Text 10"/>
          <p:cNvSpPr txBox="1"/>
          <p:nvPr/>
        </p:nvSpPr>
        <p:spPr>
          <a:xfrm>
            <a:off x="640080" y="731520"/>
            <a:ext cx="7863840" cy="274320"/>
          </a:xfrm>
          <a:prstGeom prst="rect">
            <a:avLst/>
          </a:prstGeom>
          <a:noFill/>
          <a:ln/>
        </p:spPr>
        <p:txBody>
          <a:bodyPr wrap="square" lIns="0" tIns="0" rIns="0" bIns="0" rtlCol="0" anchor="t"/>
          <a:lstStyle/>
          <a:p>
            <a:pPr indent="0" marL="0">
              <a:buNone/>
            </a:pPr>
            <a:r>
              <a:rPr lang="en-US" sz="1200" b="1" dirty="0">
                <a:solidFill>
                  <a:srgbClr val="8FD3DA"/>
                </a:solidFill>
                <a:latin typeface="Calibri" pitchFamily="34" charset="0"/>
                <a:ea typeface="Calibri" pitchFamily="34" charset="-122"/>
                <a:cs typeface="Calibri" pitchFamily="34" charset="-120"/>
              </a:rPr>
              <a:t>WADF105  |  NETWORK SECURITY FUNDAMENTALS</a:t>
            </a:r>
            <a:endParaRPr lang="en-US" sz="1200" dirty="0"/>
          </a:p>
        </p:txBody>
      </p:sp>
      <p:sp>
        <p:nvSpPr>
          <p:cNvPr id="13" name="Text 11"/>
          <p:cNvSpPr txBox="1"/>
          <p:nvPr/>
        </p:nvSpPr>
        <p:spPr>
          <a:xfrm>
            <a:off x="640080" y="1280160"/>
            <a:ext cx="7863840" cy="13716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Opening a Secure Website:</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Tracing HTTPS Communication Using the TCP/IP Model</a:t>
            </a:r>
            <a:endParaRPr lang="en-US" sz="3200" dirty="0"/>
          </a:p>
        </p:txBody>
      </p:sp>
      <p:sp>
        <p:nvSpPr>
          <p:cNvPr id="14" name="Text 12"/>
          <p:cNvSpPr txBox="1"/>
          <p:nvPr/>
        </p:nvSpPr>
        <p:spPr>
          <a:xfrm>
            <a:off x="640080" y="2926080"/>
            <a:ext cx="7863840" cy="365760"/>
          </a:xfrm>
          <a:prstGeom prst="rect">
            <a:avLst/>
          </a:prstGeom>
          <a:noFill/>
          <a:ln/>
        </p:spPr>
        <p:txBody>
          <a:bodyPr wrap="square" lIns="0" tIns="0" rIns="0" bIns="0" rtlCol="0" anchor="t"/>
          <a:lstStyle/>
          <a:p>
            <a:pPr indent="0" marL="0">
              <a:buNone/>
            </a:pPr>
            <a:r>
              <a:rPr lang="en-US" sz="1600" dirty="0">
                <a:solidFill>
                  <a:srgbClr val="D6E4EC"/>
                </a:solidFill>
                <a:latin typeface="Calibri" pitchFamily="34" charset="0"/>
                <a:ea typeface="Calibri" pitchFamily="34" charset="-122"/>
                <a:cs typeface="Calibri" pitchFamily="34" charset="-120"/>
              </a:rPr>
              <a:t>Junior Network Analyst Technical Presentation</a:t>
            </a:r>
            <a:endParaRPr lang="en-US" sz="1600" dirty="0"/>
          </a:p>
        </p:txBody>
      </p:sp>
      <p:sp>
        <p:nvSpPr>
          <p:cNvPr id="15" name="Text 13"/>
          <p:cNvSpPr txBox="1"/>
          <p:nvPr/>
        </p:nvSpPr>
        <p:spPr>
          <a:xfrm>
            <a:off x="640080" y="3749040"/>
            <a:ext cx="786384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Student: Muhammad Haseeb</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Submission date: 02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Communication Scenario: Opening https://example.com</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OVERVIEW</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1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Text 7"/>
          <p:cNvSpPr txBox="1"/>
          <p:nvPr/>
        </p:nvSpPr>
        <p:spPr>
          <a:xfrm>
            <a:off x="457200" y="1097280"/>
            <a:ext cx="1234440" cy="731520"/>
          </a:xfrm>
          <a:prstGeom prst="roundRect">
            <a:avLst>
              <a:gd name="adj" fmla="val 7500"/>
            </a:avLst>
          </a:prstGeom>
          <a:solidFill>
            <a:srgbClr val="0B1F3A"/>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URL entered</a:t>
            </a:r>
            <a:endParaRPr lang="en-US" sz="1200" dirty="0"/>
          </a:p>
        </p:txBody>
      </p:sp>
      <p:sp>
        <p:nvSpPr>
          <p:cNvPr id="11" name="Text 8"/>
          <p:cNvSpPr txBox="1"/>
          <p:nvPr/>
        </p:nvSpPr>
        <p:spPr>
          <a:xfrm>
            <a:off x="1847088" y="1097280"/>
            <a:ext cx="1234440" cy="731520"/>
          </a:xfrm>
          <a:prstGeom prst="roundRect">
            <a:avLst>
              <a:gd name="adj" fmla="val 7500"/>
            </a:avLst>
          </a:prstGeom>
          <a:solidFill>
            <a:srgbClr val="0E7C86"/>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DNS lookup</a:t>
            </a:r>
            <a:endParaRPr lang="en-US" sz="1200" dirty="0"/>
          </a:p>
        </p:txBody>
      </p:sp>
      <p:sp>
        <p:nvSpPr>
          <p:cNvPr id="12" name="Text 9"/>
          <p:cNvSpPr txBox="1"/>
          <p:nvPr/>
        </p:nvSpPr>
        <p:spPr>
          <a:xfrm>
            <a:off x="3236976" y="1097280"/>
            <a:ext cx="1234440" cy="731520"/>
          </a:xfrm>
          <a:prstGeom prst="roundRect">
            <a:avLst>
              <a:gd name="adj" fmla="val 7500"/>
            </a:avLst>
          </a:prstGeom>
          <a:solidFill>
            <a:srgbClr val="0B1F3A"/>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TCP connection</a:t>
            </a:r>
            <a:endParaRPr lang="en-US" sz="1200" dirty="0"/>
          </a:p>
        </p:txBody>
      </p:sp>
      <p:sp>
        <p:nvSpPr>
          <p:cNvPr id="13" name="Text 10"/>
          <p:cNvSpPr txBox="1"/>
          <p:nvPr/>
        </p:nvSpPr>
        <p:spPr>
          <a:xfrm>
            <a:off x="4626864" y="1097280"/>
            <a:ext cx="1234440" cy="731520"/>
          </a:xfrm>
          <a:prstGeom prst="roundRect">
            <a:avLst>
              <a:gd name="adj" fmla="val 7500"/>
            </a:avLst>
          </a:prstGeom>
          <a:solidFill>
            <a:srgbClr val="0E7C86"/>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TLS handshake</a:t>
            </a:r>
            <a:endParaRPr lang="en-US" sz="1200" dirty="0"/>
          </a:p>
        </p:txBody>
      </p:sp>
      <p:sp>
        <p:nvSpPr>
          <p:cNvPr id="14" name="Text 11"/>
          <p:cNvSpPr txBox="1"/>
          <p:nvPr/>
        </p:nvSpPr>
        <p:spPr>
          <a:xfrm>
            <a:off x="6016752" y="1097280"/>
            <a:ext cx="1234440" cy="731520"/>
          </a:xfrm>
          <a:prstGeom prst="roundRect">
            <a:avLst>
              <a:gd name="adj" fmla="val 7500"/>
            </a:avLst>
          </a:prstGeom>
          <a:solidFill>
            <a:srgbClr val="0B1F3A"/>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HTTPS request</a:t>
            </a:r>
            <a:endParaRPr lang="en-US" sz="1200" dirty="0"/>
          </a:p>
        </p:txBody>
      </p:sp>
      <p:sp>
        <p:nvSpPr>
          <p:cNvPr id="15" name="Text 12"/>
          <p:cNvSpPr txBox="1"/>
          <p:nvPr/>
        </p:nvSpPr>
        <p:spPr>
          <a:xfrm>
            <a:off x="7406640" y="1097280"/>
            <a:ext cx="1234440" cy="731520"/>
          </a:xfrm>
          <a:prstGeom prst="roundRect">
            <a:avLst>
              <a:gd name="adj" fmla="val 7500"/>
            </a:avLst>
          </a:prstGeom>
          <a:solidFill>
            <a:srgbClr val="0E7C86"/>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  Server response</a:t>
            </a:r>
            <a:endParaRPr lang="en-US" sz="1200" dirty="0"/>
          </a:p>
        </p:txBody>
      </p:sp>
      <p:sp>
        <p:nvSpPr>
          <p:cNvPr id="16" name="Shape 13"/>
          <p:cNvSpPr/>
          <p:nvPr/>
        </p:nvSpPr>
        <p:spPr>
          <a:xfrm>
            <a:off x="1691640" y="1463040"/>
            <a:ext cx="155448" cy="0"/>
          </a:xfrm>
          <a:prstGeom prst="line">
            <a:avLst/>
          </a:prstGeom>
          <a:noFill/>
          <a:ln w="19050">
            <a:solidFill>
              <a:srgbClr val="4A5A6A"/>
            </a:solidFill>
            <a:prstDash val="solid"/>
            <a:tailEnd type="triangle"/>
          </a:ln>
        </p:spPr>
      </p:sp>
      <p:sp>
        <p:nvSpPr>
          <p:cNvPr id="17" name="Shape 14"/>
          <p:cNvSpPr/>
          <p:nvPr/>
        </p:nvSpPr>
        <p:spPr>
          <a:xfrm>
            <a:off x="3081528" y="1463040"/>
            <a:ext cx="155448" cy="0"/>
          </a:xfrm>
          <a:prstGeom prst="line">
            <a:avLst/>
          </a:prstGeom>
          <a:noFill/>
          <a:ln w="19050">
            <a:solidFill>
              <a:srgbClr val="4A5A6A"/>
            </a:solidFill>
            <a:prstDash val="solid"/>
            <a:tailEnd type="triangle"/>
          </a:ln>
        </p:spPr>
      </p:sp>
      <p:sp>
        <p:nvSpPr>
          <p:cNvPr id="18" name="Shape 15"/>
          <p:cNvSpPr/>
          <p:nvPr/>
        </p:nvSpPr>
        <p:spPr>
          <a:xfrm>
            <a:off x="4471416" y="1463040"/>
            <a:ext cx="155448" cy="0"/>
          </a:xfrm>
          <a:prstGeom prst="line">
            <a:avLst/>
          </a:prstGeom>
          <a:noFill/>
          <a:ln w="19050">
            <a:solidFill>
              <a:srgbClr val="4A5A6A"/>
            </a:solidFill>
            <a:prstDash val="solid"/>
            <a:tailEnd type="triangle"/>
          </a:ln>
        </p:spPr>
      </p:sp>
      <p:sp>
        <p:nvSpPr>
          <p:cNvPr id="19" name="Shape 16"/>
          <p:cNvSpPr/>
          <p:nvPr/>
        </p:nvSpPr>
        <p:spPr>
          <a:xfrm>
            <a:off x="5861304" y="1463040"/>
            <a:ext cx="155448" cy="0"/>
          </a:xfrm>
          <a:prstGeom prst="line">
            <a:avLst/>
          </a:prstGeom>
          <a:noFill/>
          <a:ln w="19050">
            <a:solidFill>
              <a:srgbClr val="4A5A6A"/>
            </a:solidFill>
            <a:prstDash val="solid"/>
            <a:tailEnd type="triangle"/>
          </a:ln>
        </p:spPr>
      </p:sp>
      <p:sp>
        <p:nvSpPr>
          <p:cNvPr id="20" name="Shape 17"/>
          <p:cNvSpPr/>
          <p:nvPr/>
        </p:nvSpPr>
        <p:spPr>
          <a:xfrm>
            <a:off x="7251192" y="1463040"/>
            <a:ext cx="155448" cy="0"/>
          </a:xfrm>
          <a:prstGeom prst="line">
            <a:avLst/>
          </a:prstGeom>
          <a:noFill/>
          <a:ln w="19050">
            <a:solidFill>
              <a:srgbClr val="4A5A6A"/>
            </a:solidFill>
            <a:prstDash val="solid"/>
            <a:tailEnd type="triangle"/>
          </a:ln>
        </p:spPr>
      </p:sp>
      <p:sp>
        <p:nvSpPr>
          <p:cNvPr id="21" name="Shape 18"/>
          <p:cNvSpPr/>
          <p:nvPr/>
        </p:nvSpPr>
        <p:spPr>
          <a:xfrm>
            <a:off x="292608" y="2157984"/>
            <a:ext cx="8558784" cy="2414016"/>
          </a:xfrm>
          <a:prstGeom prst="roundRect">
            <a:avLst>
              <a:gd name="adj" fmla="val 3030"/>
            </a:avLst>
          </a:prstGeom>
          <a:solidFill>
            <a:srgbClr val="F7FAFC"/>
          </a:solidFill>
          <a:ln w="9525">
            <a:solidFill>
              <a:srgbClr val="D3DFE9"/>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457200" y="2286000"/>
            <a:ext cx="82296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The browser needs the destination IP address, not just the name.</a:t>
            </a:r>
            <a:endParaRPr lang="en-US" sz="1500" dirty="0"/>
          </a:p>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DNS resolution converts the domain name into an IP address.</a:t>
            </a:r>
            <a:endParaRPr lang="en-US" sz="1500" dirty="0"/>
          </a:p>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A transport connection is established to the server, usually on TCP port 443.</a:t>
            </a:r>
            <a:endParaRPr lang="en-US" sz="1500" dirty="0"/>
          </a:p>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TLS authenticates the server and protects the data in transit.</a:t>
            </a:r>
            <a:endParaRPr lang="en-US" sz="1500" dirty="0"/>
          </a:p>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The HTTPS request travels to the web server, and the response returns to the browser.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TCP/IP Model and OSI Mapping</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MODELS</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2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645920"/>
                <a:gridCol w="3291840"/>
                <a:gridCol w="329184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TCP/IP layer</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OSI layers</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Examples in this scenario</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Application</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7 Application, 6 Presentation, 5 Session</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HTTPS (HTTP + TLS), DNS</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Transport</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4 Transport</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TCP (port 443), UDP (port 53)</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Internet</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3 Network</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IP, ICMP</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Network Access</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2 Data Link, 1 Physical</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Ethernet, Wi-Fi, ARP</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457200" y="3474720"/>
            <a:ext cx="8229600" cy="914400"/>
          </a:xfrm>
          <a:prstGeom prst="rect">
            <a:avLst/>
          </a:prstGeom>
          <a:noFill/>
          <a:ln/>
        </p:spPr>
        <p:txBody>
          <a:bodyPr wrap="square" lIns="0" tIns="0" rIns="0" bIns="0" rtlCol="0" anchor="t"/>
          <a:lstStyle/>
          <a:p>
            <a:pPr indent="0" marL="0">
              <a:buNone/>
            </a:pPr>
            <a:r>
              <a:rPr lang="en-US" sz="1300" dirty="0">
                <a:solidFill>
                  <a:srgbClr val="4A5A6A"/>
                </a:solidFill>
                <a:latin typeface="Calibri" pitchFamily="34" charset="0"/>
                <a:ea typeface="Calibri" pitchFamily="34" charset="-122"/>
                <a:cs typeface="Calibri" pitchFamily="34" charset="-120"/>
              </a:rPr>
              <a:t>Why the difference? TCP/IP was built around working protocols, so functions OSI separates (encoding, session handling) are handled inside application protocols. OSI is a detailed reference model; TCP/IP is the practical model of the Internet.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DNS Resolution</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APPLICATION LAYER</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3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Text 7"/>
          <p:cNvSpPr txBox="1"/>
          <p:nvPr/>
        </p:nvSpPr>
        <p:spPr>
          <a:xfrm>
            <a:off x="457200" y="1097280"/>
            <a:ext cx="1737360" cy="731520"/>
          </a:xfrm>
          <a:prstGeom prst="roundRect">
            <a:avLst>
              <a:gd name="adj" fmla="val 7500"/>
            </a:avLst>
          </a:prstGeom>
          <a:solidFill>
            <a:srgbClr val="0B1F3A"/>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Browser</a:t>
            </a:r>
            <a:endParaRPr lang="en-US" sz="1300" dirty="0"/>
          </a:p>
        </p:txBody>
      </p:sp>
      <p:sp>
        <p:nvSpPr>
          <p:cNvPr id="11" name="Text 8"/>
          <p:cNvSpPr txBox="1"/>
          <p:nvPr/>
        </p:nvSpPr>
        <p:spPr>
          <a:xfrm>
            <a:off x="2560320" y="1097280"/>
            <a:ext cx="1737360" cy="731520"/>
          </a:xfrm>
          <a:prstGeom prst="roundRect">
            <a:avLst>
              <a:gd name="adj" fmla="val 7500"/>
            </a:avLst>
          </a:prstGeom>
          <a:solidFill>
            <a:srgbClr val="0E7C86"/>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DNS resolver</a:t>
            </a:r>
            <a:endParaRPr lang="en-US" sz="1300" dirty="0"/>
          </a:p>
        </p:txBody>
      </p:sp>
      <p:sp>
        <p:nvSpPr>
          <p:cNvPr id="12" name="Text 9"/>
          <p:cNvSpPr txBox="1"/>
          <p:nvPr/>
        </p:nvSpPr>
        <p:spPr>
          <a:xfrm>
            <a:off x="4663440" y="1097280"/>
            <a:ext cx="1737360" cy="731520"/>
          </a:xfrm>
          <a:prstGeom prst="roundRect">
            <a:avLst>
              <a:gd name="adj" fmla="val 7500"/>
            </a:avLst>
          </a:prstGeom>
          <a:solidFill>
            <a:srgbClr val="0B1F3A"/>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IP address returned</a:t>
            </a:r>
            <a:endParaRPr lang="en-US" sz="1300" dirty="0"/>
          </a:p>
        </p:txBody>
      </p:sp>
      <p:sp>
        <p:nvSpPr>
          <p:cNvPr id="13" name="Text 10"/>
          <p:cNvSpPr txBox="1"/>
          <p:nvPr/>
        </p:nvSpPr>
        <p:spPr>
          <a:xfrm>
            <a:off x="6766560" y="1097280"/>
            <a:ext cx="1737360" cy="731520"/>
          </a:xfrm>
          <a:prstGeom prst="roundRect">
            <a:avLst>
              <a:gd name="adj" fmla="val 7500"/>
            </a:avLst>
          </a:prstGeom>
          <a:solidFill>
            <a:srgbClr val="0B1F3A"/>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Browser</a:t>
            </a:r>
            <a:endParaRPr lang="en-US" sz="1300" dirty="0"/>
          </a:p>
        </p:txBody>
      </p:sp>
      <p:sp>
        <p:nvSpPr>
          <p:cNvPr id="14" name="Shape 11"/>
          <p:cNvSpPr/>
          <p:nvPr/>
        </p:nvSpPr>
        <p:spPr>
          <a:xfrm>
            <a:off x="2194560" y="1463040"/>
            <a:ext cx="365760" cy="0"/>
          </a:xfrm>
          <a:prstGeom prst="line">
            <a:avLst/>
          </a:prstGeom>
          <a:noFill/>
          <a:ln w="19050">
            <a:solidFill>
              <a:srgbClr val="4A5A6A"/>
            </a:solidFill>
            <a:prstDash val="solid"/>
            <a:tailEnd type="triangle"/>
          </a:ln>
        </p:spPr>
      </p:sp>
      <p:sp>
        <p:nvSpPr>
          <p:cNvPr id="15" name="Shape 12"/>
          <p:cNvSpPr/>
          <p:nvPr/>
        </p:nvSpPr>
        <p:spPr>
          <a:xfrm>
            <a:off x="4297680" y="1463040"/>
            <a:ext cx="365760" cy="0"/>
          </a:xfrm>
          <a:prstGeom prst="line">
            <a:avLst/>
          </a:prstGeom>
          <a:noFill/>
          <a:ln w="19050">
            <a:solidFill>
              <a:srgbClr val="4A5A6A"/>
            </a:solidFill>
            <a:prstDash val="solid"/>
            <a:tailEnd type="triangle"/>
          </a:ln>
        </p:spPr>
      </p:sp>
      <p:sp>
        <p:nvSpPr>
          <p:cNvPr id="16" name="Shape 13"/>
          <p:cNvSpPr/>
          <p:nvPr/>
        </p:nvSpPr>
        <p:spPr>
          <a:xfrm>
            <a:off x="6400800" y="1463040"/>
            <a:ext cx="365760" cy="0"/>
          </a:xfrm>
          <a:prstGeom prst="line">
            <a:avLst/>
          </a:prstGeom>
          <a:noFill/>
          <a:ln w="19050">
            <a:solidFill>
              <a:srgbClr val="4A5A6A"/>
            </a:solidFill>
            <a:prstDash val="solid"/>
            <a:tailEnd type="triangle"/>
          </a:ln>
        </p:spPr>
      </p:sp>
      <p:sp>
        <p:nvSpPr>
          <p:cNvPr id="17" name="Text 14"/>
          <p:cNvSpPr txBox="1"/>
          <p:nvPr/>
        </p:nvSpPr>
        <p:spPr>
          <a:xfrm>
            <a:off x="457200" y="1920240"/>
            <a:ext cx="2194560" cy="274320"/>
          </a:xfrm>
          <a:prstGeom prst="rect">
            <a:avLst/>
          </a:prstGeom>
          <a:noFill/>
          <a:ln/>
        </p:spPr>
        <p:txBody>
          <a:bodyPr wrap="square" lIns="0" tIns="0" rIns="0" bIns="0" rtlCol="0" anchor="t"/>
          <a:lstStyle/>
          <a:p>
            <a:pPr algn="ctr" indent="0" marL="0">
              <a:buNone/>
            </a:pPr>
            <a:r>
              <a:rPr lang="en-US" sz="1000" dirty="0">
                <a:solidFill>
                  <a:srgbClr val="4A5A6A"/>
                </a:solidFill>
                <a:latin typeface="Calibri" pitchFamily="34" charset="0"/>
                <a:ea typeface="Calibri" pitchFamily="34" charset="-122"/>
                <a:cs typeface="Calibri" pitchFamily="34" charset="-120"/>
              </a:rPr>
              <a:t>query: example.com?</a:t>
            </a:r>
            <a:endParaRPr lang="en-US" sz="1000" dirty="0"/>
          </a:p>
        </p:txBody>
      </p:sp>
      <p:sp>
        <p:nvSpPr>
          <p:cNvPr id="18" name="Text 15"/>
          <p:cNvSpPr txBox="1"/>
          <p:nvPr/>
        </p:nvSpPr>
        <p:spPr>
          <a:xfrm>
            <a:off x="2651760" y="1920240"/>
            <a:ext cx="2194560" cy="274320"/>
          </a:xfrm>
          <a:prstGeom prst="rect">
            <a:avLst/>
          </a:prstGeom>
          <a:noFill/>
          <a:ln/>
        </p:spPr>
        <p:txBody>
          <a:bodyPr wrap="square" lIns="0" tIns="0" rIns="0" bIns="0" rtlCol="0" anchor="t"/>
          <a:lstStyle/>
          <a:p>
            <a:pPr algn="ctr" indent="0" marL="0">
              <a:buNone/>
            </a:pPr>
            <a:r>
              <a:rPr lang="en-US" sz="1000" dirty="0">
                <a:solidFill>
                  <a:srgbClr val="4A5A6A"/>
                </a:solidFill>
                <a:latin typeface="Calibri" pitchFamily="34" charset="0"/>
                <a:ea typeface="Calibri" pitchFamily="34" charset="-122"/>
                <a:cs typeface="Calibri" pitchFamily="34" charset="-120"/>
              </a:rPr>
              <a:t>response: IP address</a:t>
            </a:r>
            <a:endParaRPr lang="en-US" sz="1000" dirty="0"/>
          </a:p>
        </p:txBody>
      </p:sp>
      <p:sp>
        <p:nvSpPr>
          <p:cNvPr id="19" name="Shape 16"/>
          <p:cNvSpPr/>
          <p:nvPr/>
        </p:nvSpPr>
        <p:spPr>
          <a:xfrm>
            <a:off x="292608" y="2340864"/>
            <a:ext cx="8558784" cy="2231136"/>
          </a:xfrm>
          <a:prstGeom prst="roundRect">
            <a:avLst>
              <a:gd name="adj" fmla="val 3279"/>
            </a:avLst>
          </a:prstGeom>
          <a:solidFill>
            <a:srgbClr val="F7FAFC"/>
          </a:solidFill>
          <a:ln w="9525">
            <a:solidFill>
              <a:srgbClr val="D3DFE9"/>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457200" y="2468880"/>
            <a:ext cx="8229600" cy="201168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DNS maps a domain name to an IP address; routing needs the IP.</a:t>
            </a:r>
            <a:endParaRPr lang="en-US" sz="1500" dirty="0"/>
          </a:p>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A DNS resolver answers the client query, asking other DNS servers if needed.</a:t>
            </a:r>
            <a:endParaRPr lang="en-US" sz="1500" dirty="0"/>
          </a:p>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DNS is an Application layer protocol.</a:t>
            </a:r>
            <a:endParaRPr lang="en-US" sz="1500" dirty="0"/>
          </a:p>
          <a:p>
            <a:pPr marL="342900" indent="-342900">
              <a:spcAft>
                <a:spcPts val="500"/>
              </a:spcAft>
              <a:buSzPct val="100000"/>
              <a:buChar char="•"/>
            </a:pPr>
            <a:r>
              <a:rPr lang="en-US" sz="1500" dirty="0">
                <a:solidFill>
                  <a:srgbClr val="0B1F3A"/>
                </a:solidFill>
                <a:latin typeface="Calibri" pitchFamily="34" charset="0"/>
                <a:ea typeface="Calibri" pitchFamily="34" charset="-122"/>
                <a:cs typeface="Calibri" pitchFamily="34" charset="-120"/>
              </a:rPr>
              <a:t>It commonly uses UDP port 53; TCP port 53 is also used in some cases (for example large responses).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TCP Connection Establishment</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TRANSPORT LAYER</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4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Shape 7"/>
          <p:cNvSpPr/>
          <p:nvPr/>
        </p:nvSpPr>
        <p:spPr>
          <a:xfrm>
            <a:off x="1188720" y="1371600"/>
            <a:ext cx="0" cy="2926080"/>
          </a:xfrm>
          <a:prstGeom prst="line">
            <a:avLst/>
          </a:prstGeom>
          <a:noFill/>
          <a:ln w="19050">
            <a:solidFill>
              <a:srgbClr val="4A5A6A"/>
            </a:solidFill>
            <a:prstDash val="dash"/>
          </a:ln>
        </p:spPr>
      </p:sp>
      <p:sp>
        <p:nvSpPr>
          <p:cNvPr id="11" name="Shape 8"/>
          <p:cNvSpPr/>
          <p:nvPr/>
        </p:nvSpPr>
        <p:spPr>
          <a:xfrm>
            <a:off x="4572000" y="1371600"/>
            <a:ext cx="0" cy="2926080"/>
          </a:xfrm>
          <a:prstGeom prst="line">
            <a:avLst/>
          </a:prstGeom>
          <a:noFill/>
          <a:ln w="19050">
            <a:solidFill>
              <a:srgbClr val="4A5A6A"/>
            </a:solidFill>
            <a:prstDash val="dash"/>
          </a:ln>
        </p:spPr>
      </p:sp>
      <p:sp>
        <p:nvSpPr>
          <p:cNvPr id="12" name="Text 9"/>
          <p:cNvSpPr txBox="1"/>
          <p:nvPr/>
        </p:nvSpPr>
        <p:spPr>
          <a:xfrm>
            <a:off x="457200" y="914400"/>
            <a:ext cx="1463040" cy="411480"/>
          </a:xfrm>
          <a:prstGeom prst="roundRect">
            <a:avLst>
              <a:gd name="adj" fmla="val 13333"/>
            </a:avLst>
          </a:prstGeom>
          <a:solidFill>
            <a:srgbClr val="0B1F3A"/>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p:txBody>
      </p:sp>
      <p:sp>
        <p:nvSpPr>
          <p:cNvPr id="13" name="Text 10"/>
          <p:cNvSpPr txBox="1"/>
          <p:nvPr/>
        </p:nvSpPr>
        <p:spPr>
          <a:xfrm>
            <a:off x="3840480" y="914400"/>
            <a:ext cx="1463040" cy="411480"/>
          </a:xfrm>
          <a:prstGeom prst="roundRect">
            <a:avLst>
              <a:gd name="adj" fmla="val 13333"/>
            </a:avLst>
          </a:prstGeom>
          <a:solidFill>
            <a:srgbClr val="0B1F3A"/>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Web server :443</a:t>
            </a:r>
            <a:endParaRPr lang="en-US" sz="1300" dirty="0"/>
          </a:p>
        </p:txBody>
      </p:sp>
      <p:sp>
        <p:nvSpPr>
          <p:cNvPr id="14" name="Shape 11"/>
          <p:cNvSpPr/>
          <p:nvPr/>
        </p:nvSpPr>
        <p:spPr>
          <a:xfrm>
            <a:off x="1188720" y="1920240"/>
            <a:ext cx="3383280" cy="0"/>
          </a:xfrm>
          <a:prstGeom prst="line">
            <a:avLst/>
          </a:prstGeom>
          <a:noFill/>
          <a:ln w="31750">
            <a:solidFill>
              <a:srgbClr val="0E7C86"/>
            </a:solidFill>
            <a:prstDash val="solid"/>
            <a:tailEnd type="triangle"/>
          </a:ln>
        </p:spPr>
      </p:sp>
      <p:sp>
        <p:nvSpPr>
          <p:cNvPr id="15" name="Text 12"/>
          <p:cNvSpPr txBox="1"/>
          <p:nvPr/>
        </p:nvSpPr>
        <p:spPr>
          <a:xfrm>
            <a:off x="1920240" y="1618488"/>
            <a:ext cx="2377440" cy="274320"/>
          </a:xfrm>
          <a:prstGeom prst="rect">
            <a:avLst/>
          </a:prstGeom>
          <a:noFill/>
          <a:ln/>
        </p:spPr>
        <p:txBody>
          <a:bodyPr wrap="square" lIns="0" tIns="0" rIns="0" bIns="0" rtlCol="0" anchor="t"/>
          <a:lstStyle/>
          <a:p>
            <a:pPr algn="ctr" indent="0" marL="0">
              <a:buNone/>
            </a:pPr>
            <a:r>
              <a:rPr lang="en-US" sz="1200" b="1" dirty="0">
                <a:solidFill>
                  <a:srgbClr val="0E7C86"/>
                </a:solidFill>
                <a:latin typeface="Calibri" pitchFamily="34" charset="0"/>
                <a:ea typeface="Calibri" pitchFamily="34" charset="-122"/>
                <a:cs typeface="Calibri" pitchFamily="34" charset="-120"/>
              </a:rPr>
              <a:t>1  SYN</a:t>
            </a:r>
            <a:endParaRPr lang="en-US" sz="1200" dirty="0"/>
          </a:p>
        </p:txBody>
      </p:sp>
      <p:sp>
        <p:nvSpPr>
          <p:cNvPr id="16" name="Shape 13"/>
          <p:cNvSpPr/>
          <p:nvPr/>
        </p:nvSpPr>
        <p:spPr>
          <a:xfrm>
            <a:off x="1188720" y="2743200"/>
            <a:ext cx="3383280" cy="0"/>
          </a:xfrm>
          <a:prstGeom prst="line">
            <a:avLst/>
          </a:prstGeom>
          <a:noFill/>
          <a:ln w="31750">
            <a:solidFill>
              <a:srgbClr val="C96A12"/>
            </a:solidFill>
            <a:prstDash val="solid"/>
            <a:headEnd type="triangle"/>
          </a:ln>
        </p:spPr>
      </p:sp>
      <p:sp>
        <p:nvSpPr>
          <p:cNvPr id="17" name="Text 14"/>
          <p:cNvSpPr txBox="1"/>
          <p:nvPr/>
        </p:nvSpPr>
        <p:spPr>
          <a:xfrm>
            <a:off x="1920240" y="2441448"/>
            <a:ext cx="2377440" cy="274320"/>
          </a:xfrm>
          <a:prstGeom prst="rect">
            <a:avLst/>
          </a:prstGeom>
          <a:noFill/>
          <a:ln/>
        </p:spPr>
        <p:txBody>
          <a:bodyPr wrap="square" lIns="0" tIns="0" rIns="0" bIns="0" rtlCol="0" anchor="t"/>
          <a:lstStyle/>
          <a:p>
            <a:pPr algn="ctr" indent="0" marL="0">
              <a:buNone/>
            </a:pPr>
            <a:r>
              <a:rPr lang="en-US" sz="1200" b="1" dirty="0">
                <a:solidFill>
                  <a:srgbClr val="C96A12"/>
                </a:solidFill>
                <a:latin typeface="Calibri" pitchFamily="34" charset="0"/>
                <a:ea typeface="Calibri" pitchFamily="34" charset="-122"/>
                <a:cs typeface="Calibri" pitchFamily="34" charset="-120"/>
              </a:rPr>
              <a:t>2  SYN / ACK</a:t>
            </a:r>
            <a:endParaRPr lang="en-US" sz="1200" dirty="0"/>
          </a:p>
        </p:txBody>
      </p:sp>
      <p:sp>
        <p:nvSpPr>
          <p:cNvPr id="18" name="Shape 15"/>
          <p:cNvSpPr/>
          <p:nvPr/>
        </p:nvSpPr>
        <p:spPr>
          <a:xfrm>
            <a:off x="1188720" y="3566160"/>
            <a:ext cx="3383280" cy="0"/>
          </a:xfrm>
          <a:prstGeom prst="line">
            <a:avLst/>
          </a:prstGeom>
          <a:noFill/>
          <a:ln w="31750">
            <a:solidFill>
              <a:srgbClr val="0E7C86"/>
            </a:solidFill>
            <a:prstDash val="solid"/>
            <a:tailEnd type="triangle"/>
          </a:ln>
        </p:spPr>
      </p:sp>
      <p:sp>
        <p:nvSpPr>
          <p:cNvPr id="19" name="Text 16"/>
          <p:cNvSpPr txBox="1"/>
          <p:nvPr/>
        </p:nvSpPr>
        <p:spPr>
          <a:xfrm>
            <a:off x="1920240" y="3264408"/>
            <a:ext cx="2377440" cy="274320"/>
          </a:xfrm>
          <a:prstGeom prst="rect">
            <a:avLst/>
          </a:prstGeom>
          <a:noFill/>
          <a:ln/>
        </p:spPr>
        <p:txBody>
          <a:bodyPr wrap="square" lIns="0" tIns="0" rIns="0" bIns="0" rtlCol="0" anchor="t"/>
          <a:lstStyle/>
          <a:p>
            <a:pPr algn="ctr" indent="0" marL="0">
              <a:buNone/>
            </a:pPr>
            <a:r>
              <a:rPr lang="en-US" sz="1200" b="1" dirty="0">
                <a:solidFill>
                  <a:srgbClr val="0E7C86"/>
                </a:solidFill>
                <a:latin typeface="Calibri" pitchFamily="34" charset="0"/>
                <a:ea typeface="Calibri" pitchFamily="34" charset="-122"/>
                <a:cs typeface="Calibri" pitchFamily="34" charset="-120"/>
              </a:rPr>
              <a:t>3  ACK</a:t>
            </a:r>
            <a:endParaRPr lang="en-US" sz="1200" dirty="0"/>
          </a:p>
        </p:txBody>
      </p:sp>
      <p:sp>
        <p:nvSpPr>
          <p:cNvPr id="20" name="Shape 17"/>
          <p:cNvSpPr/>
          <p:nvPr/>
        </p:nvSpPr>
        <p:spPr>
          <a:xfrm>
            <a:off x="5413248" y="1060704"/>
            <a:ext cx="3529584" cy="3328416"/>
          </a:xfrm>
          <a:prstGeom prst="roundRect">
            <a:avLst>
              <a:gd name="adj" fmla="val 2198"/>
            </a:avLst>
          </a:prstGeom>
          <a:solidFill>
            <a:srgbClr val="F7FAFC"/>
          </a:solidFill>
          <a:ln w="9525">
            <a:solidFill>
              <a:srgbClr val="D3DFE9"/>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5577840" y="1188720"/>
            <a:ext cx="3200400" cy="31089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B1F3A"/>
                </a:solidFill>
                <a:latin typeface="Calibri" pitchFamily="34" charset="0"/>
                <a:ea typeface="Calibri" pitchFamily="34" charset="-122"/>
                <a:cs typeface="Calibri" pitchFamily="34" charset="-120"/>
              </a:rPr>
              <a:t>SYN: client requests a connection.</a:t>
            </a:r>
            <a:endParaRPr lang="en-US" sz="1300" dirty="0"/>
          </a:p>
          <a:p>
            <a:pPr marL="342900" indent="-342900">
              <a:spcAft>
                <a:spcPts val="500"/>
              </a:spcAft>
              <a:buSzPct val="100000"/>
              <a:buChar char="•"/>
            </a:pPr>
            <a:r>
              <a:rPr lang="en-US" sz="1300" dirty="0">
                <a:solidFill>
                  <a:srgbClr val="0B1F3A"/>
                </a:solidFill>
                <a:latin typeface="Calibri" pitchFamily="34" charset="0"/>
                <a:ea typeface="Calibri" pitchFamily="34" charset="-122"/>
                <a:cs typeface="Calibri" pitchFamily="34" charset="-120"/>
              </a:rPr>
              <a:t>SYN/ACK: server accepts and acknowledges.</a:t>
            </a:r>
            <a:endParaRPr lang="en-US" sz="1300" dirty="0"/>
          </a:p>
          <a:p>
            <a:pPr marL="342900" indent="-342900">
              <a:spcAft>
                <a:spcPts val="500"/>
              </a:spcAft>
              <a:buSzPct val="100000"/>
              <a:buChar char="•"/>
            </a:pPr>
            <a:r>
              <a:rPr lang="en-US" sz="1300" dirty="0">
                <a:solidFill>
                  <a:srgbClr val="0B1F3A"/>
                </a:solidFill>
                <a:latin typeface="Calibri" pitchFamily="34" charset="0"/>
                <a:ea typeface="Calibri" pitchFamily="34" charset="-122"/>
                <a:cs typeface="Calibri" pitchFamily="34" charset="-120"/>
              </a:rPr>
              <a:t>ACK: client confirms.</a:t>
            </a:r>
            <a:endParaRPr lang="en-US" sz="1300" dirty="0"/>
          </a:p>
          <a:p>
            <a:pPr marL="342900" indent="-342900">
              <a:spcAft>
                <a:spcPts val="500"/>
              </a:spcAft>
              <a:buSzPct val="100000"/>
              <a:buChar char="•"/>
            </a:pPr>
            <a:r>
              <a:rPr lang="en-US" sz="1300" dirty="0">
                <a:solidFill>
                  <a:srgbClr val="0B1F3A"/>
                </a:solidFill>
                <a:latin typeface="Calibri" pitchFamily="34" charset="0"/>
                <a:ea typeface="Calibri" pitchFamily="34" charset="-122"/>
                <a:cs typeface="Calibri" pitchFamily="34" charset="-120"/>
              </a:rPr>
              <a:t>Connection established; data can flow.</a:t>
            </a:r>
            <a:endParaRPr lang="en-US" sz="1300" dirty="0"/>
          </a:p>
          <a:p>
            <a:pPr marL="342900" indent="-342900">
              <a:spcAft>
                <a:spcPts val="500"/>
              </a:spcAft>
              <a:buSzPct val="100000"/>
              <a:buChar char="•"/>
            </a:pPr>
            <a:r>
              <a:rPr lang="en-US" sz="1300" dirty="0">
                <a:solidFill>
                  <a:srgbClr val="0B1F3A"/>
                </a:solidFill>
                <a:latin typeface="Calibri" pitchFamily="34" charset="0"/>
                <a:ea typeface="Calibri" pitchFamily="34" charset="-122"/>
                <a:cs typeface="Calibri" pitchFamily="34" charset="-120"/>
              </a:rPr>
              <a:t>HTTPS over TCP uses destination port 443.</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TLS and HTTPS</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SECURITY</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5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Text 7"/>
          <p:cNvSpPr txBox="1"/>
          <p:nvPr/>
        </p:nvSpPr>
        <p:spPr>
          <a:xfrm>
            <a:off x="548640" y="1005840"/>
            <a:ext cx="256032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HTTP data</a:t>
            </a:r>
            <a:endParaRPr lang="en-US" sz="1300" dirty="0"/>
          </a:p>
        </p:txBody>
      </p:sp>
      <p:sp>
        <p:nvSpPr>
          <p:cNvPr id="11" name="Shape 8"/>
          <p:cNvSpPr/>
          <p:nvPr/>
        </p:nvSpPr>
        <p:spPr>
          <a:xfrm>
            <a:off x="1828800" y="1627632"/>
            <a:ext cx="0" cy="0"/>
          </a:xfrm>
          <a:prstGeom prst="line">
            <a:avLst/>
          </a:prstGeom>
          <a:noFill/>
          <a:ln w="19050">
            <a:solidFill>
              <a:srgbClr val="4A5A6A"/>
            </a:solidFill>
            <a:prstDash val="solid"/>
            <a:tailEnd type="triangle"/>
          </a:ln>
        </p:spPr>
      </p:sp>
      <p:sp>
        <p:nvSpPr>
          <p:cNvPr id="12" name="Text 9"/>
          <p:cNvSpPr txBox="1"/>
          <p:nvPr/>
        </p:nvSpPr>
        <p:spPr>
          <a:xfrm>
            <a:off x="548640" y="1874520"/>
            <a:ext cx="256032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TLS</a:t>
            </a:r>
            <a:endParaRPr lang="en-US" sz="1300" dirty="0"/>
          </a:p>
        </p:txBody>
      </p:sp>
      <p:sp>
        <p:nvSpPr>
          <p:cNvPr id="13" name="Shape 10"/>
          <p:cNvSpPr/>
          <p:nvPr/>
        </p:nvSpPr>
        <p:spPr>
          <a:xfrm>
            <a:off x="1828800" y="2496312"/>
            <a:ext cx="0" cy="0"/>
          </a:xfrm>
          <a:prstGeom prst="line">
            <a:avLst/>
          </a:prstGeom>
          <a:noFill/>
          <a:ln w="19050">
            <a:solidFill>
              <a:srgbClr val="4A5A6A"/>
            </a:solidFill>
            <a:prstDash val="solid"/>
            <a:tailEnd type="triangle"/>
          </a:ln>
        </p:spPr>
      </p:sp>
      <p:sp>
        <p:nvSpPr>
          <p:cNvPr id="14" name="Text 11"/>
          <p:cNvSpPr txBox="1"/>
          <p:nvPr/>
        </p:nvSpPr>
        <p:spPr>
          <a:xfrm>
            <a:off x="548640" y="2743200"/>
            <a:ext cx="256032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Encrypted data</a:t>
            </a:r>
            <a:endParaRPr lang="en-US" sz="1300" dirty="0"/>
          </a:p>
        </p:txBody>
      </p:sp>
      <p:sp>
        <p:nvSpPr>
          <p:cNvPr id="15" name="Shape 12"/>
          <p:cNvSpPr/>
          <p:nvPr/>
        </p:nvSpPr>
        <p:spPr>
          <a:xfrm>
            <a:off x="1828800" y="3364992"/>
            <a:ext cx="0" cy="0"/>
          </a:xfrm>
          <a:prstGeom prst="line">
            <a:avLst/>
          </a:prstGeom>
          <a:noFill/>
          <a:ln w="19050">
            <a:solidFill>
              <a:srgbClr val="4A5A6A"/>
            </a:solidFill>
            <a:prstDash val="solid"/>
            <a:tailEnd type="triangle"/>
          </a:ln>
        </p:spPr>
      </p:sp>
      <p:sp>
        <p:nvSpPr>
          <p:cNvPr id="16" name="Text 13"/>
          <p:cNvSpPr txBox="1"/>
          <p:nvPr/>
        </p:nvSpPr>
        <p:spPr>
          <a:xfrm>
            <a:off x="548640" y="3611880"/>
            <a:ext cx="256032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HTTPS communication</a:t>
            </a:r>
            <a:endParaRPr lang="en-US" sz="1300" dirty="0"/>
          </a:p>
        </p:txBody>
      </p:sp>
      <p:sp>
        <p:nvSpPr>
          <p:cNvPr id="17" name="Shape 14"/>
          <p:cNvSpPr/>
          <p:nvPr/>
        </p:nvSpPr>
        <p:spPr>
          <a:xfrm>
            <a:off x="1828800" y="1627632"/>
            <a:ext cx="0" cy="246888"/>
          </a:xfrm>
          <a:prstGeom prst="line">
            <a:avLst/>
          </a:prstGeom>
          <a:noFill/>
          <a:ln w="19050">
            <a:solidFill>
              <a:srgbClr val="4A5A6A"/>
            </a:solidFill>
            <a:prstDash val="solid"/>
            <a:tailEnd type="triangle"/>
          </a:ln>
        </p:spPr>
      </p:sp>
      <p:sp>
        <p:nvSpPr>
          <p:cNvPr id="18" name="Shape 15"/>
          <p:cNvSpPr/>
          <p:nvPr/>
        </p:nvSpPr>
        <p:spPr>
          <a:xfrm>
            <a:off x="1828800" y="2496312"/>
            <a:ext cx="0" cy="246888"/>
          </a:xfrm>
          <a:prstGeom prst="line">
            <a:avLst/>
          </a:prstGeom>
          <a:noFill/>
          <a:ln w="19050">
            <a:solidFill>
              <a:srgbClr val="4A5A6A"/>
            </a:solidFill>
            <a:prstDash val="solid"/>
            <a:tailEnd type="triangle"/>
          </a:ln>
        </p:spPr>
      </p:sp>
      <p:sp>
        <p:nvSpPr>
          <p:cNvPr id="19" name="Shape 16"/>
          <p:cNvSpPr/>
          <p:nvPr/>
        </p:nvSpPr>
        <p:spPr>
          <a:xfrm>
            <a:off x="1828800" y="3364992"/>
            <a:ext cx="0" cy="246888"/>
          </a:xfrm>
          <a:prstGeom prst="line">
            <a:avLst/>
          </a:prstGeom>
          <a:noFill/>
          <a:ln w="19050">
            <a:solidFill>
              <a:srgbClr val="4A5A6A"/>
            </a:solidFill>
            <a:prstDash val="solid"/>
            <a:tailEnd type="triangle"/>
          </a:ln>
        </p:spPr>
      </p:sp>
      <p:sp>
        <p:nvSpPr>
          <p:cNvPr id="20" name="Shape 17"/>
          <p:cNvSpPr/>
          <p:nvPr/>
        </p:nvSpPr>
        <p:spPr>
          <a:xfrm>
            <a:off x="3493008" y="877824"/>
            <a:ext cx="5358384" cy="3694176"/>
          </a:xfrm>
          <a:prstGeom prst="roundRect">
            <a:avLst>
              <a:gd name="adj" fmla="val 1980"/>
            </a:avLst>
          </a:prstGeom>
          <a:solidFill>
            <a:srgbClr val="F7FAFC"/>
          </a:solidFill>
          <a:ln w="9525">
            <a:solidFill>
              <a:srgbClr val="D3DFE9"/>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3657600" y="1005840"/>
            <a:ext cx="5029200" cy="34747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HTTP defines web requests and responses (readable if not protected).</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TLS provides server authentication, encryption and integrity.</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HTTPS = HTTP carried over TLS.</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TCP does not encrypt; TLS provides the security.</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HTTP/1.1 and HTTP/2 commonly use TCP; HTTP/3 uses QUIC over UDP.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Encapsulation (Sender) and Decapsulation (Receiver)</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ENCAPSULATION</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6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Text 7"/>
          <p:cNvSpPr txBox="1"/>
          <p:nvPr/>
        </p:nvSpPr>
        <p:spPr>
          <a:xfrm>
            <a:off x="457200" y="1097280"/>
            <a:ext cx="1920240" cy="45720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Application data</a:t>
            </a:r>
            <a:endParaRPr lang="en-US" sz="1200" dirty="0"/>
          </a:p>
        </p:txBody>
      </p:sp>
      <p:sp>
        <p:nvSpPr>
          <p:cNvPr id="11" name="Text 8"/>
          <p:cNvSpPr txBox="1"/>
          <p:nvPr/>
        </p:nvSpPr>
        <p:spPr>
          <a:xfrm>
            <a:off x="2468880" y="1097280"/>
            <a:ext cx="1463040" cy="457200"/>
          </a:xfrm>
          <a:prstGeom prst="roundRect">
            <a:avLst>
              <a:gd name="adj" fmla="val 12000"/>
            </a:avLst>
          </a:prstGeom>
          <a:solidFill>
            <a:srgbClr val="0E7C86"/>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p:txBody>
      </p:sp>
      <p:sp>
        <p:nvSpPr>
          <p:cNvPr id="12" name="Text 9"/>
          <p:cNvSpPr txBox="1"/>
          <p:nvPr/>
        </p:nvSpPr>
        <p:spPr>
          <a:xfrm>
            <a:off x="457200" y="1783080"/>
            <a:ext cx="1920240" cy="45720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Segment (Transport)</a:t>
            </a:r>
            <a:endParaRPr lang="en-US" sz="1200" dirty="0"/>
          </a:p>
        </p:txBody>
      </p:sp>
      <p:sp>
        <p:nvSpPr>
          <p:cNvPr id="13" name="Text 10"/>
          <p:cNvSpPr txBox="1"/>
          <p:nvPr/>
        </p:nvSpPr>
        <p:spPr>
          <a:xfrm>
            <a:off x="2468880" y="1783080"/>
            <a:ext cx="914400" cy="457200"/>
          </a:xfrm>
          <a:prstGeom prst="roundRect">
            <a:avLst>
              <a:gd name="adj" fmla="val 12000"/>
            </a:avLst>
          </a:prstGeom>
          <a:solidFill>
            <a:srgbClr val="C96A12"/>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TCP HDR</a:t>
            </a:r>
            <a:endParaRPr lang="en-US" sz="1100" dirty="0"/>
          </a:p>
        </p:txBody>
      </p:sp>
      <p:sp>
        <p:nvSpPr>
          <p:cNvPr id="14" name="Text 11"/>
          <p:cNvSpPr txBox="1"/>
          <p:nvPr/>
        </p:nvSpPr>
        <p:spPr>
          <a:xfrm>
            <a:off x="3419856" y="1783080"/>
            <a:ext cx="1463040" cy="457200"/>
          </a:xfrm>
          <a:prstGeom prst="roundRect">
            <a:avLst>
              <a:gd name="adj" fmla="val 12000"/>
            </a:avLst>
          </a:prstGeom>
          <a:solidFill>
            <a:srgbClr val="0E7C86"/>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p:txBody>
      </p:sp>
      <p:sp>
        <p:nvSpPr>
          <p:cNvPr id="15" name="Text 12"/>
          <p:cNvSpPr txBox="1"/>
          <p:nvPr/>
        </p:nvSpPr>
        <p:spPr>
          <a:xfrm>
            <a:off x="457200" y="2468880"/>
            <a:ext cx="1920240" cy="45720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Packet (Internet)</a:t>
            </a:r>
            <a:endParaRPr lang="en-US" sz="1200" dirty="0"/>
          </a:p>
        </p:txBody>
      </p:sp>
      <p:sp>
        <p:nvSpPr>
          <p:cNvPr id="16" name="Text 13"/>
          <p:cNvSpPr txBox="1"/>
          <p:nvPr/>
        </p:nvSpPr>
        <p:spPr>
          <a:xfrm>
            <a:off x="2468880" y="2468880"/>
            <a:ext cx="914400" cy="457200"/>
          </a:xfrm>
          <a:prstGeom prst="roundRect">
            <a:avLst>
              <a:gd name="adj" fmla="val 12000"/>
            </a:avLst>
          </a:prstGeom>
          <a:solidFill>
            <a:srgbClr val="0B1F3A"/>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IP HDR</a:t>
            </a:r>
            <a:endParaRPr lang="en-US" sz="1100" dirty="0"/>
          </a:p>
        </p:txBody>
      </p:sp>
      <p:sp>
        <p:nvSpPr>
          <p:cNvPr id="17" name="Text 14"/>
          <p:cNvSpPr txBox="1"/>
          <p:nvPr/>
        </p:nvSpPr>
        <p:spPr>
          <a:xfrm>
            <a:off x="3419856" y="2468880"/>
            <a:ext cx="914400" cy="457200"/>
          </a:xfrm>
          <a:prstGeom prst="roundRect">
            <a:avLst>
              <a:gd name="adj" fmla="val 12000"/>
            </a:avLst>
          </a:prstGeom>
          <a:solidFill>
            <a:srgbClr val="C96A12"/>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TCP HDR</a:t>
            </a:r>
            <a:endParaRPr lang="en-US" sz="1100" dirty="0"/>
          </a:p>
        </p:txBody>
      </p:sp>
      <p:sp>
        <p:nvSpPr>
          <p:cNvPr id="18" name="Text 15"/>
          <p:cNvSpPr txBox="1"/>
          <p:nvPr/>
        </p:nvSpPr>
        <p:spPr>
          <a:xfrm>
            <a:off x="4370832" y="2468880"/>
            <a:ext cx="1463040" cy="457200"/>
          </a:xfrm>
          <a:prstGeom prst="roundRect">
            <a:avLst>
              <a:gd name="adj" fmla="val 12000"/>
            </a:avLst>
          </a:prstGeom>
          <a:solidFill>
            <a:srgbClr val="0E7C86"/>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p:txBody>
      </p:sp>
      <p:sp>
        <p:nvSpPr>
          <p:cNvPr id="19" name="Text 16"/>
          <p:cNvSpPr txBox="1"/>
          <p:nvPr/>
        </p:nvSpPr>
        <p:spPr>
          <a:xfrm>
            <a:off x="457200" y="3154680"/>
            <a:ext cx="1920240" cy="45720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Frame (Network Access)</a:t>
            </a:r>
            <a:endParaRPr lang="en-US" sz="1200" dirty="0"/>
          </a:p>
        </p:txBody>
      </p:sp>
      <p:sp>
        <p:nvSpPr>
          <p:cNvPr id="20" name="Text 17"/>
          <p:cNvSpPr txBox="1"/>
          <p:nvPr/>
        </p:nvSpPr>
        <p:spPr>
          <a:xfrm>
            <a:off x="2468880" y="3154680"/>
            <a:ext cx="1097280" cy="457200"/>
          </a:xfrm>
          <a:prstGeom prst="roundRect">
            <a:avLst>
              <a:gd name="adj" fmla="val 12000"/>
            </a:avLst>
          </a:prstGeom>
          <a:solidFill>
            <a:srgbClr val="4A5A6A"/>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FRAME HDR</a:t>
            </a:r>
            <a:endParaRPr lang="en-US" sz="1100" dirty="0"/>
          </a:p>
        </p:txBody>
      </p:sp>
      <p:sp>
        <p:nvSpPr>
          <p:cNvPr id="21" name="Text 18"/>
          <p:cNvSpPr txBox="1"/>
          <p:nvPr/>
        </p:nvSpPr>
        <p:spPr>
          <a:xfrm>
            <a:off x="3602736" y="3154680"/>
            <a:ext cx="914400" cy="457200"/>
          </a:xfrm>
          <a:prstGeom prst="roundRect">
            <a:avLst>
              <a:gd name="adj" fmla="val 12000"/>
            </a:avLst>
          </a:prstGeom>
          <a:solidFill>
            <a:srgbClr val="0B1F3A"/>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IP HDR</a:t>
            </a:r>
            <a:endParaRPr lang="en-US" sz="1100" dirty="0"/>
          </a:p>
        </p:txBody>
      </p:sp>
      <p:sp>
        <p:nvSpPr>
          <p:cNvPr id="22" name="Text 19"/>
          <p:cNvSpPr txBox="1"/>
          <p:nvPr/>
        </p:nvSpPr>
        <p:spPr>
          <a:xfrm>
            <a:off x="4553712" y="3154680"/>
            <a:ext cx="914400" cy="457200"/>
          </a:xfrm>
          <a:prstGeom prst="roundRect">
            <a:avLst>
              <a:gd name="adj" fmla="val 12000"/>
            </a:avLst>
          </a:prstGeom>
          <a:solidFill>
            <a:srgbClr val="C96A12"/>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TCP HDR</a:t>
            </a:r>
            <a:endParaRPr lang="en-US" sz="1100" dirty="0"/>
          </a:p>
        </p:txBody>
      </p:sp>
      <p:sp>
        <p:nvSpPr>
          <p:cNvPr id="23" name="Text 20"/>
          <p:cNvSpPr txBox="1"/>
          <p:nvPr/>
        </p:nvSpPr>
        <p:spPr>
          <a:xfrm>
            <a:off x="5504688" y="3154680"/>
            <a:ext cx="1463040" cy="457200"/>
          </a:xfrm>
          <a:prstGeom prst="roundRect">
            <a:avLst>
              <a:gd name="adj" fmla="val 12000"/>
            </a:avLst>
          </a:prstGeom>
          <a:solidFill>
            <a:srgbClr val="0E7C86"/>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p:txBody>
      </p:sp>
      <p:sp>
        <p:nvSpPr>
          <p:cNvPr id="24" name="Text 21"/>
          <p:cNvSpPr txBox="1"/>
          <p:nvPr/>
        </p:nvSpPr>
        <p:spPr>
          <a:xfrm>
            <a:off x="7004304" y="3154680"/>
            <a:ext cx="914400" cy="457200"/>
          </a:xfrm>
          <a:prstGeom prst="roundRect">
            <a:avLst>
              <a:gd name="adj" fmla="val 12000"/>
            </a:avLst>
          </a:prstGeom>
          <a:solidFill>
            <a:srgbClr val="4A5A6A"/>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TRAILER</a:t>
            </a:r>
            <a:endParaRPr lang="en-US" sz="1100" dirty="0"/>
          </a:p>
        </p:txBody>
      </p:sp>
      <p:sp>
        <p:nvSpPr>
          <p:cNvPr id="25" name="Text 22"/>
          <p:cNvSpPr txBox="1"/>
          <p:nvPr/>
        </p:nvSpPr>
        <p:spPr>
          <a:xfrm>
            <a:off x="457200" y="3931920"/>
            <a:ext cx="8229600" cy="640080"/>
          </a:xfrm>
          <a:prstGeom prst="rect">
            <a:avLst/>
          </a:prstGeom>
          <a:noFill/>
          <a:ln/>
        </p:spPr>
        <p:txBody>
          <a:bodyPr wrap="square" lIns="0" tIns="0" rIns="0" bIns="0" rtlCol="0" anchor="t"/>
          <a:lstStyle/>
          <a:p>
            <a:pPr indent="0" marL="0">
              <a:buNone/>
            </a:pPr>
            <a:r>
              <a:rPr lang="en-US" sz="1300" dirty="0">
                <a:solidFill>
                  <a:srgbClr val="4A5A6A"/>
                </a:solidFill>
                <a:latin typeface="Calibri" pitchFamily="34" charset="0"/>
                <a:ea typeface="Calibri" pitchFamily="34" charset="-122"/>
                <a:cs typeface="Calibri" pitchFamily="34" charset="-120"/>
              </a:rPr>
              <a:t>Sender: each layer adds a header as data goes down, then bits are sent.   Receiver: decapsulation removes headers in reverse order, up to the application.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Original Packet Journey Diagram</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PACKET JOURNEY</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7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Shape 7"/>
          <p:cNvSpPr/>
          <p:nvPr/>
        </p:nvSpPr>
        <p:spPr>
          <a:xfrm>
            <a:off x="1005840" y="960120"/>
            <a:ext cx="7223760" cy="0"/>
          </a:xfrm>
          <a:prstGeom prst="line">
            <a:avLst/>
          </a:prstGeom>
          <a:noFill/>
          <a:ln w="31750">
            <a:solidFill>
              <a:srgbClr val="0E7C86"/>
            </a:solidFill>
            <a:prstDash val="solid"/>
            <a:tailEnd type="triangle"/>
          </a:ln>
        </p:spPr>
      </p:sp>
      <p:sp>
        <p:nvSpPr>
          <p:cNvPr id="11" name="Text 8"/>
          <p:cNvSpPr txBox="1"/>
          <p:nvPr/>
        </p:nvSpPr>
        <p:spPr>
          <a:xfrm>
            <a:off x="2286000" y="841248"/>
            <a:ext cx="4572000" cy="182880"/>
          </a:xfrm>
          <a:prstGeom prst="rect">
            <a:avLst/>
          </a:prstGeom>
          <a:solidFill>
            <a:srgbClr val="FFFFFF"/>
          </a:solidFill>
          <a:ln/>
        </p:spPr>
        <p:txBody>
          <a:bodyPr wrap="square" lIns="0" tIns="0" rIns="0" bIns="0" rtlCol="0" anchor="t"/>
          <a:lstStyle/>
          <a:p>
            <a:pPr algn="ctr" indent="0" marL="0">
              <a:buNone/>
            </a:pPr>
            <a:r>
              <a:rPr lang="en-US" sz="1000" b="1" dirty="0">
                <a:solidFill>
                  <a:srgbClr val="0E7C86"/>
                </a:solidFill>
                <a:latin typeface="Calibri" pitchFamily="34" charset="0"/>
                <a:ea typeface="Calibri" pitchFamily="34" charset="-122"/>
                <a:cs typeface="Calibri" pitchFamily="34" charset="-120"/>
              </a:rPr>
              <a:t>HTTPS request (client to server, TCP port 443)</a:t>
            </a:r>
            <a:endParaRPr lang="en-US" sz="1000" dirty="0"/>
          </a:p>
        </p:txBody>
      </p:sp>
      <p:sp>
        <p:nvSpPr>
          <p:cNvPr id="12" name="Shape 9"/>
          <p:cNvSpPr/>
          <p:nvPr/>
        </p:nvSpPr>
        <p:spPr>
          <a:xfrm>
            <a:off x="1005840" y="1325880"/>
            <a:ext cx="7223760" cy="0"/>
          </a:xfrm>
          <a:prstGeom prst="line">
            <a:avLst/>
          </a:prstGeom>
          <a:noFill/>
          <a:ln w="31750">
            <a:solidFill>
              <a:srgbClr val="C96A12"/>
            </a:solidFill>
            <a:prstDash val="solid"/>
            <a:headEnd type="triangle"/>
          </a:ln>
        </p:spPr>
      </p:sp>
      <p:sp>
        <p:nvSpPr>
          <p:cNvPr id="13" name="Text 10"/>
          <p:cNvSpPr txBox="1"/>
          <p:nvPr/>
        </p:nvSpPr>
        <p:spPr>
          <a:xfrm>
            <a:off x="2286000" y="1207008"/>
            <a:ext cx="4572000" cy="182880"/>
          </a:xfrm>
          <a:prstGeom prst="rect">
            <a:avLst/>
          </a:prstGeom>
          <a:solidFill>
            <a:srgbClr val="FFFFFF"/>
          </a:solidFill>
          <a:ln/>
        </p:spPr>
        <p:txBody>
          <a:bodyPr wrap="square" lIns="0" tIns="0" rIns="0" bIns="0" rtlCol="0" anchor="t"/>
          <a:lstStyle/>
          <a:p>
            <a:pPr algn="ctr" indent="0" marL="0">
              <a:buNone/>
            </a:pPr>
            <a:r>
              <a:rPr lang="en-US" sz="1000" b="1" dirty="0">
                <a:solidFill>
                  <a:srgbClr val="C96A12"/>
                </a:solidFill>
                <a:latin typeface="Calibri" pitchFamily="34" charset="0"/>
                <a:ea typeface="Calibri" pitchFamily="34" charset="-122"/>
                <a:cs typeface="Calibri" pitchFamily="34" charset="-120"/>
              </a:rPr>
              <a:t>HTTPS response (server to client)</a:t>
            </a:r>
            <a:endParaRPr lang="en-US" sz="1000" dirty="0"/>
          </a:p>
        </p:txBody>
      </p:sp>
      <p:sp>
        <p:nvSpPr>
          <p:cNvPr id="14" name="Text 11"/>
          <p:cNvSpPr txBox="1"/>
          <p:nvPr/>
        </p:nvSpPr>
        <p:spPr>
          <a:xfrm>
            <a:off x="365760" y="1600200"/>
            <a:ext cx="128016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Laptop / Browser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(sender)</a:t>
            </a:r>
            <a:endParaRPr lang="en-US" sz="1100" dirty="0"/>
          </a:p>
        </p:txBody>
      </p:sp>
      <p:sp>
        <p:nvSpPr>
          <p:cNvPr id="15" name="Text 12"/>
          <p:cNvSpPr txBox="1"/>
          <p:nvPr/>
        </p:nvSpPr>
        <p:spPr>
          <a:xfrm>
            <a:off x="2148840" y="1600200"/>
            <a:ext cx="128016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Home router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(NAT)</a:t>
            </a:r>
            <a:endParaRPr lang="en-US" sz="1100" dirty="0"/>
          </a:p>
        </p:txBody>
      </p:sp>
      <p:sp>
        <p:nvSpPr>
          <p:cNvPr id="16" name="Text 13"/>
          <p:cNvSpPr txBox="1"/>
          <p:nvPr/>
        </p:nvSpPr>
        <p:spPr>
          <a:xfrm>
            <a:off x="3931920" y="1600200"/>
            <a:ext cx="128016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ISP router</a:t>
            </a:r>
            <a:endParaRPr lang="en-US" sz="1100" dirty="0"/>
          </a:p>
        </p:txBody>
      </p:sp>
      <p:sp>
        <p:nvSpPr>
          <p:cNvPr id="17" name="Text 14"/>
          <p:cNvSpPr txBox="1"/>
          <p:nvPr/>
        </p:nvSpPr>
        <p:spPr>
          <a:xfrm>
            <a:off x="5715000" y="1600200"/>
            <a:ext cx="128016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Internet routers</a:t>
            </a:r>
            <a:endParaRPr lang="en-US" sz="1100" dirty="0"/>
          </a:p>
        </p:txBody>
      </p:sp>
      <p:sp>
        <p:nvSpPr>
          <p:cNvPr id="18" name="Text 15"/>
          <p:cNvSpPr txBox="1"/>
          <p:nvPr/>
        </p:nvSpPr>
        <p:spPr>
          <a:xfrm>
            <a:off x="7498080" y="1600200"/>
            <a:ext cx="128016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 server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(destination)</a:t>
            </a:r>
            <a:endParaRPr lang="en-US" sz="1100" dirty="0"/>
          </a:p>
        </p:txBody>
      </p:sp>
      <p:sp>
        <p:nvSpPr>
          <p:cNvPr id="19" name="Text 16"/>
          <p:cNvSpPr txBox="1"/>
          <p:nvPr/>
        </p:nvSpPr>
        <p:spPr>
          <a:xfrm>
            <a:off x="228600" y="2286000"/>
            <a:ext cx="1554480" cy="292608"/>
          </a:xfrm>
          <a:prstGeom prst="roundRect">
            <a:avLst>
              <a:gd name="adj" fmla="val 18750"/>
            </a:avLst>
          </a:prstGeom>
          <a:solidFill>
            <a:srgbClr val="D6E4EC"/>
          </a:solidFill>
          <a:ln/>
        </p:spPr>
        <p:txBody>
          <a:bodyPr wrap="square" lIns="38100" tIns="38100" rIns="38100" bIns="38100"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Application: HTTPS, DNS</a:t>
            </a:r>
            <a:endParaRPr lang="en-US" sz="900" dirty="0"/>
          </a:p>
        </p:txBody>
      </p:sp>
      <p:sp>
        <p:nvSpPr>
          <p:cNvPr id="20" name="Text 17"/>
          <p:cNvSpPr txBox="1"/>
          <p:nvPr/>
        </p:nvSpPr>
        <p:spPr>
          <a:xfrm>
            <a:off x="228600" y="2615184"/>
            <a:ext cx="1554480" cy="292608"/>
          </a:xfrm>
          <a:prstGeom prst="roundRect">
            <a:avLst>
              <a:gd name="adj" fmla="val 18750"/>
            </a:avLst>
          </a:prstGeom>
          <a:solidFill>
            <a:srgbClr val="D6E4EC"/>
          </a:solidFill>
          <a:ln/>
        </p:spPr>
        <p:txBody>
          <a:bodyPr wrap="square" lIns="38100" tIns="38100" rIns="38100" bIns="38100"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Transport: TCP 443</a:t>
            </a:r>
            <a:endParaRPr lang="en-US" sz="900" dirty="0"/>
          </a:p>
        </p:txBody>
      </p:sp>
      <p:sp>
        <p:nvSpPr>
          <p:cNvPr id="21" name="Text 18"/>
          <p:cNvSpPr txBox="1"/>
          <p:nvPr/>
        </p:nvSpPr>
        <p:spPr>
          <a:xfrm>
            <a:off x="228600" y="2944368"/>
            <a:ext cx="1554480" cy="292608"/>
          </a:xfrm>
          <a:prstGeom prst="roundRect">
            <a:avLst>
              <a:gd name="adj" fmla="val 18750"/>
            </a:avLst>
          </a:prstGeom>
          <a:solidFill>
            <a:srgbClr val="D6E4EC"/>
          </a:solidFill>
          <a:ln/>
        </p:spPr>
        <p:txBody>
          <a:bodyPr wrap="square" lIns="38100" tIns="38100" rIns="38100" bIns="38100"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Internet: IP</a:t>
            </a:r>
            <a:endParaRPr lang="en-US" sz="900" dirty="0"/>
          </a:p>
        </p:txBody>
      </p:sp>
      <p:sp>
        <p:nvSpPr>
          <p:cNvPr id="22" name="Text 19"/>
          <p:cNvSpPr txBox="1"/>
          <p:nvPr/>
        </p:nvSpPr>
        <p:spPr>
          <a:xfrm>
            <a:off x="228600" y="3273552"/>
            <a:ext cx="1554480" cy="292608"/>
          </a:xfrm>
          <a:prstGeom prst="roundRect">
            <a:avLst>
              <a:gd name="adj" fmla="val 18750"/>
            </a:avLst>
          </a:prstGeom>
          <a:solidFill>
            <a:srgbClr val="D6E4EC"/>
          </a:solidFill>
          <a:ln/>
        </p:spPr>
        <p:txBody>
          <a:bodyPr wrap="square" lIns="38100" tIns="38100" rIns="38100" bIns="38100"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Network Access: Ethernet / Wi-Fi</a:t>
            </a:r>
            <a:endParaRPr lang="en-US" sz="900" dirty="0"/>
          </a:p>
        </p:txBody>
      </p:sp>
      <p:sp>
        <p:nvSpPr>
          <p:cNvPr id="23" name="Text 20"/>
          <p:cNvSpPr txBox="1"/>
          <p:nvPr/>
        </p:nvSpPr>
        <p:spPr>
          <a:xfrm>
            <a:off x="7360920" y="2286000"/>
            <a:ext cx="1554480" cy="292608"/>
          </a:xfrm>
          <a:prstGeom prst="roundRect">
            <a:avLst>
              <a:gd name="adj" fmla="val 18750"/>
            </a:avLst>
          </a:prstGeom>
          <a:solidFill>
            <a:srgbClr val="D6E4EC"/>
          </a:solidFill>
          <a:ln/>
        </p:spPr>
        <p:txBody>
          <a:bodyPr wrap="square" lIns="38100" tIns="38100" rIns="38100" bIns="38100"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Application: HTTPS, DNS</a:t>
            </a:r>
            <a:endParaRPr lang="en-US" sz="900" dirty="0"/>
          </a:p>
        </p:txBody>
      </p:sp>
      <p:sp>
        <p:nvSpPr>
          <p:cNvPr id="24" name="Text 21"/>
          <p:cNvSpPr txBox="1"/>
          <p:nvPr/>
        </p:nvSpPr>
        <p:spPr>
          <a:xfrm>
            <a:off x="7360920" y="2615184"/>
            <a:ext cx="1554480" cy="292608"/>
          </a:xfrm>
          <a:prstGeom prst="roundRect">
            <a:avLst>
              <a:gd name="adj" fmla="val 18750"/>
            </a:avLst>
          </a:prstGeom>
          <a:solidFill>
            <a:srgbClr val="D6E4EC"/>
          </a:solidFill>
          <a:ln/>
        </p:spPr>
        <p:txBody>
          <a:bodyPr wrap="square" lIns="38100" tIns="38100" rIns="38100" bIns="38100"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Transport: TCP 443</a:t>
            </a:r>
            <a:endParaRPr lang="en-US" sz="900" dirty="0"/>
          </a:p>
        </p:txBody>
      </p:sp>
      <p:sp>
        <p:nvSpPr>
          <p:cNvPr id="25" name="Text 22"/>
          <p:cNvSpPr txBox="1"/>
          <p:nvPr/>
        </p:nvSpPr>
        <p:spPr>
          <a:xfrm>
            <a:off x="7360920" y="2944368"/>
            <a:ext cx="1554480" cy="292608"/>
          </a:xfrm>
          <a:prstGeom prst="roundRect">
            <a:avLst>
              <a:gd name="adj" fmla="val 18750"/>
            </a:avLst>
          </a:prstGeom>
          <a:solidFill>
            <a:srgbClr val="D6E4EC"/>
          </a:solidFill>
          <a:ln/>
        </p:spPr>
        <p:txBody>
          <a:bodyPr wrap="square" lIns="38100" tIns="38100" rIns="38100" bIns="38100"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Internet: IP</a:t>
            </a:r>
            <a:endParaRPr lang="en-US" sz="900" dirty="0"/>
          </a:p>
        </p:txBody>
      </p:sp>
      <p:sp>
        <p:nvSpPr>
          <p:cNvPr id="26" name="Text 23"/>
          <p:cNvSpPr txBox="1"/>
          <p:nvPr/>
        </p:nvSpPr>
        <p:spPr>
          <a:xfrm>
            <a:off x="7360920" y="3273552"/>
            <a:ext cx="1554480" cy="292608"/>
          </a:xfrm>
          <a:prstGeom prst="roundRect">
            <a:avLst>
              <a:gd name="adj" fmla="val 18750"/>
            </a:avLst>
          </a:prstGeom>
          <a:solidFill>
            <a:srgbClr val="D6E4EC"/>
          </a:solidFill>
          <a:ln/>
        </p:spPr>
        <p:txBody>
          <a:bodyPr wrap="square" lIns="38100" tIns="38100" rIns="38100" bIns="38100" rtlCol="0" anchor="ctr"/>
          <a:lstStyle/>
          <a:p>
            <a:pPr algn="ctr" indent="0" marL="0">
              <a:buNone/>
            </a:pPr>
            <a:r>
              <a:rPr lang="en-US" sz="900" dirty="0">
                <a:solidFill>
                  <a:srgbClr val="0B1F3A"/>
                </a:solidFill>
                <a:latin typeface="Calibri" pitchFamily="34" charset="0"/>
                <a:ea typeface="Calibri" pitchFamily="34" charset="-122"/>
                <a:cs typeface="Calibri" pitchFamily="34" charset="-120"/>
              </a:rPr>
              <a:t>Network Access: Ethernet / Wi-Fi</a:t>
            </a:r>
            <a:endParaRPr lang="en-US" sz="900" dirty="0"/>
          </a:p>
        </p:txBody>
      </p:sp>
      <p:sp>
        <p:nvSpPr>
          <p:cNvPr id="27" name="Text 24"/>
          <p:cNvSpPr txBox="1"/>
          <p:nvPr/>
        </p:nvSpPr>
        <p:spPr>
          <a:xfrm>
            <a:off x="2148840" y="2286000"/>
            <a:ext cx="1280160" cy="822960"/>
          </a:xfrm>
          <a:prstGeom prst="rect">
            <a:avLst/>
          </a:prstGeom>
          <a:noFill/>
          <a:ln/>
        </p:spPr>
        <p:txBody>
          <a:bodyPr wrap="square" lIns="0" tIns="0" rIns="0" bIns="0" rtlCol="0" anchor="t"/>
          <a:lstStyle/>
          <a:p>
            <a:pPr algn="ctr" indent="0" marL="0">
              <a:buNone/>
            </a:pPr>
            <a:r>
              <a:rPr lang="en-US" sz="900" dirty="0">
                <a:solidFill>
                  <a:srgbClr val="4A5A6A"/>
                </a:solidFill>
                <a:latin typeface="Calibri" pitchFamily="34" charset="0"/>
                <a:ea typeface="Calibri" pitchFamily="34" charset="-122"/>
                <a:cs typeface="Calibri" pitchFamily="34" charset="-120"/>
              </a:rPr>
              <a:t>Layers 1-3 (plus NAT):</a:t>
            </a:r>
            <a:endParaRPr lang="en-US" sz="900" dirty="0"/>
          </a:p>
          <a:p>
            <a:pPr algn="ctr" indent="0" marL="0">
              <a:buNone/>
            </a:pPr>
            <a:r>
              <a:rPr lang="en-US" sz="900" dirty="0">
                <a:solidFill>
                  <a:srgbClr val="4A5A6A"/>
                </a:solidFill>
                <a:latin typeface="Calibri" pitchFamily="34" charset="0"/>
                <a:ea typeface="Calibri" pitchFamily="34" charset="-122"/>
                <a:cs typeface="Calibri" pitchFamily="34" charset="-120"/>
              </a:rPr>
              <a:t>forwards by IP,</a:t>
            </a:r>
            <a:endParaRPr lang="en-US" sz="900" dirty="0"/>
          </a:p>
          <a:p>
            <a:pPr algn="ctr" indent="0" marL="0">
              <a:buNone/>
            </a:pPr>
            <a:r>
              <a:rPr lang="en-US" sz="900" dirty="0">
                <a:solidFill>
                  <a:srgbClr val="4A5A6A"/>
                </a:solidFill>
                <a:latin typeface="Calibri" pitchFamily="34" charset="0"/>
                <a:ea typeface="Calibri" pitchFamily="34" charset="-122"/>
                <a:cs typeface="Calibri" pitchFamily="34" charset="-120"/>
              </a:rPr>
              <a:t>new frame per link</a:t>
            </a:r>
            <a:endParaRPr lang="en-US" sz="900" dirty="0"/>
          </a:p>
        </p:txBody>
      </p:sp>
      <p:sp>
        <p:nvSpPr>
          <p:cNvPr id="28" name="Text 25"/>
          <p:cNvSpPr txBox="1"/>
          <p:nvPr/>
        </p:nvSpPr>
        <p:spPr>
          <a:xfrm>
            <a:off x="3931920" y="2286000"/>
            <a:ext cx="1280160" cy="822960"/>
          </a:xfrm>
          <a:prstGeom prst="rect">
            <a:avLst/>
          </a:prstGeom>
          <a:noFill/>
          <a:ln/>
        </p:spPr>
        <p:txBody>
          <a:bodyPr wrap="square" lIns="0" tIns="0" rIns="0" bIns="0" rtlCol="0" anchor="t"/>
          <a:lstStyle/>
          <a:p>
            <a:pPr algn="ctr" indent="0" marL="0">
              <a:buNone/>
            </a:pPr>
            <a:r>
              <a:rPr lang="en-US" sz="900" dirty="0">
                <a:solidFill>
                  <a:srgbClr val="4A5A6A"/>
                </a:solidFill>
                <a:latin typeface="Calibri" pitchFamily="34" charset="0"/>
                <a:ea typeface="Calibri" pitchFamily="34" charset="-122"/>
                <a:cs typeface="Calibri" pitchFamily="34" charset="-120"/>
              </a:rPr>
              <a:t>Internet + Network</a:t>
            </a:r>
            <a:endParaRPr lang="en-US" sz="900" dirty="0"/>
          </a:p>
          <a:p>
            <a:pPr algn="ctr" indent="0" marL="0">
              <a:buNone/>
            </a:pPr>
            <a:r>
              <a:rPr lang="en-US" sz="900" dirty="0">
                <a:solidFill>
                  <a:srgbClr val="4A5A6A"/>
                </a:solidFill>
                <a:latin typeface="Calibri" pitchFamily="34" charset="0"/>
                <a:ea typeface="Calibri" pitchFamily="34" charset="-122"/>
                <a:cs typeface="Calibri" pitchFamily="34" charset="-120"/>
              </a:rPr>
              <a:t>Access layers:</a:t>
            </a:r>
            <a:endParaRPr lang="en-US" sz="900" dirty="0"/>
          </a:p>
          <a:p>
            <a:pPr algn="ctr" indent="0" marL="0">
              <a:buNone/>
            </a:pPr>
            <a:r>
              <a:rPr lang="en-US" sz="900" dirty="0">
                <a:solidFill>
                  <a:srgbClr val="4A5A6A"/>
                </a:solidFill>
                <a:latin typeface="Calibri" pitchFamily="34" charset="0"/>
                <a:ea typeface="Calibri" pitchFamily="34" charset="-122"/>
                <a:cs typeface="Calibri" pitchFamily="34" charset="-120"/>
              </a:rPr>
              <a:t>forwards by IP</a:t>
            </a:r>
            <a:endParaRPr lang="en-US" sz="900" dirty="0"/>
          </a:p>
        </p:txBody>
      </p:sp>
      <p:sp>
        <p:nvSpPr>
          <p:cNvPr id="29" name="Text 26"/>
          <p:cNvSpPr txBox="1"/>
          <p:nvPr/>
        </p:nvSpPr>
        <p:spPr>
          <a:xfrm>
            <a:off x="5715000" y="2286000"/>
            <a:ext cx="1280160" cy="822960"/>
          </a:xfrm>
          <a:prstGeom prst="rect">
            <a:avLst/>
          </a:prstGeom>
          <a:noFill/>
          <a:ln/>
        </p:spPr>
        <p:txBody>
          <a:bodyPr wrap="square" lIns="0" tIns="0" rIns="0" bIns="0" rtlCol="0" anchor="t"/>
          <a:lstStyle/>
          <a:p>
            <a:pPr algn="ctr" indent="0" marL="0">
              <a:buNone/>
            </a:pPr>
            <a:r>
              <a:rPr lang="en-US" sz="900" dirty="0">
                <a:solidFill>
                  <a:srgbClr val="4A5A6A"/>
                </a:solidFill>
                <a:latin typeface="Calibri" pitchFamily="34" charset="0"/>
                <a:ea typeface="Calibri" pitchFamily="34" charset="-122"/>
                <a:cs typeface="Calibri" pitchFamily="34" charset="-120"/>
              </a:rPr>
              <a:t>Internet + Network</a:t>
            </a:r>
            <a:endParaRPr lang="en-US" sz="900" dirty="0"/>
          </a:p>
          <a:p>
            <a:pPr algn="ctr" indent="0" marL="0">
              <a:buNone/>
            </a:pPr>
            <a:r>
              <a:rPr lang="en-US" sz="900" dirty="0">
                <a:solidFill>
                  <a:srgbClr val="4A5A6A"/>
                </a:solidFill>
                <a:latin typeface="Calibri" pitchFamily="34" charset="0"/>
                <a:ea typeface="Calibri" pitchFamily="34" charset="-122"/>
                <a:cs typeface="Calibri" pitchFamily="34" charset="-120"/>
              </a:rPr>
              <a:t>Access layers:</a:t>
            </a:r>
            <a:endParaRPr lang="en-US" sz="900" dirty="0"/>
          </a:p>
          <a:p>
            <a:pPr algn="ctr" indent="0" marL="0">
              <a:buNone/>
            </a:pPr>
            <a:r>
              <a:rPr lang="en-US" sz="900" dirty="0">
                <a:solidFill>
                  <a:srgbClr val="4A5A6A"/>
                </a:solidFill>
                <a:latin typeface="Calibri" pitchFamily="34" charset="0"/>
                <a:ea typeface="Calibri" pitchFamily="34" charset="-122"/>
                <a:cs typeface="Calibri" pitchFamily="34" charset="-120"/>
              </a:rPr>
              <a:t>forwards by IP</a:t>
            </a:r>
            <a:endParaRPr lang="en-US" sz="900" dirty="0"/>
          </a:p>
        </p:txBody>
      </p:sp>
      <p:sp>
        <p:nvSpPr>
          <p:cNvPr id="30" name="Text 27"/>
          <p:cNvSpPr txBox="1"/>
          <p:nvPr/>
        </p:nvSpPr>
        <p:spPr>
          <a:xfrm>
            <a:off x="365760" y="3657600"/>
            <a:ext cx="2697480" cy="960120"/>
          </a:xfrm>
          <a:prstGeom prst="roundRect">
            <a:avLst>
              <a:gd name="adj" fmla="val 5714"/>
            </a:avLst>
          </a:prstGeom>
          <a:solidFill>
            <a:srgbClr val="EAF1F6"/>
          </a:solidFill>
          <a:ln/>
        </p:spPr>
        <p:txBody>
          <a:bodyPr wrap="square" lIns="38100" tIns="38100" rIns="38100" bIns="38100" rtlCol="0" anchor="ctr"/>
          <a:lstStyle/>
          <a:p>
            <a:pPr algn="ctr" indent="0" marL="0">
              <a:buNone/>
            </a:pPr>
            <a:endParaRPr lang="en-US" sz="1100" dirty="0"/>
          </a:p>
        </p:txBody>
      </p:sp>
      <p:sp>
        <p:nvSpPr>
          <p:cNvPr id="31" name="Text 28"/>
          <p:cNvSpPr txBox="1"/>
          <p:nvPr/>
        </p:nvSpPr>
        <p:spPr>
          <a:xfrm>
            <a:off x="457200" y="3703320"/>
            <a:ext cx="2514600" cy="228600"/>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IP addresses</a:t>
            </a:r>
            <a:endParaRPr lang="en-US" sz="1100" dirty="0"/>
          </a:p>
        </p:txBody>
      </p:sp>
      <p:sp>
        <p:nvSpPr>
          <p:cNvPr id="32" name="Text 29"/>
          <p:cNvSpPr txBox="1"/>
          <p:nvPr/>
        </p:nvSpPr>
        <p:spPr>
          <a:xfrm>
            <a:off x="457200" y="3931920"/>
            <a:ext cx="2514600" cy="685800"/>
          </a:xfrm>
          <a:prstGeom prst="rect">
            <a:avLst/>
          </a:prstGeom>
          <a:noFill/>
          <a:ln/>
        </p:spPr>
        <p:txBody>
          <a:bodyPr wrap="square" lIns="0" tIns="0" rIns="0" bIns="0" rtlCol="0" anchor="t"/>
          <a:lstStyle/>
          <a:p>
            <a:pPr indent="0" marL="0">
              <a:buNone/>
            </a:pPr>
            <a:r>
              <a:rPr lang="en-US" sz="1000" dirty="0">
                <a:solidFill>
                  <a:srgbClr val="0B1F3A"/>
                </a:solidFill>
                <a:latin typeface="Calibri" pitchFamily="34" charset="0"/>
                <a:ea typeface="Calibri" pitchFamily="34" charset="-122"/>
                <a:cs typeface="Calibri" pitchFamily="34" charset="-120"/>
              </a:rPr>
              <a:t>Source and destination IP stay the same end to end (NAT rewrites the private source at the home router).</a:t>
            </a:r>
            <a:endParaRPr lang="en-US" sz="1000" dirty="0"/>
          </a:p>
        </p:txBody>
      </p:sp>
      <p:sp>
        <p:nvSpPr>
          <p:cNvPr id="33" name="Text 30"/>
          <p:cNvSpPr txBox="1"/>
          <p:nvPr/>
        </p:nvSpPr>
        <p:spPr>
          <a:xfrm>
            <a:off x="3200400" y="3657600"/>
            <a:ext cx="2697480" cy="960120"/>
          </a:xfrm>
          <a:prstGeom prst="roundRect">
            <a:avLst>
              <a:gd name="adj" fmla="val 5714"/>
            </a:avLst>
          </a:prstGeom>
          <a:solidFill>
            <a:srgbClr val="EAF1F6"/>
          </a:solidFill>
          <a:ln/>
        </p:spPr>
        <p:txBody>
          <a:bodyPr wrap="square" lIns="38100" tIns="38100" rIns="38100" bIns="38100" rtlCol="0" anchor="ctr"/>
          <a:lstStyle/>
          <a:p>
            <a:pPr algn="ctr" indent="0" marL="0">
              <a:buNone/>
            </a:pPr>
            <a:endParaRPr lang="en-US" sz="1100" dirty="0"/>
          </a:p>
        </p:txBody>
      </p:sp>
      <p:sp>
        <p:nvSpPr>
          <p:cNvPr id="34" name="Text 31"/>
          <p:cNvSpPr txBox="1"/>
          <p:nvPr/>
        </p:nvSpPr>
        <p:spPr>
          <a:xfrm>
            <a:off x="3291840" y="3703320"/>
            <a:ext cx="2514600" cy="228600"/>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MAC addresses</a:t>
            </a:r>
            <a:endParaRPr lang="en-US" sz="1100" dirty="0"/>
          </a:p>
        </p:txBody>
      </p:sp>
      <p:sp>
        <p:nvSpPr>
          <p:cNvPr id="35" name="Text 32"/>
          <p:cNvSpPr txBox="1"/>
          <p:nvPr/>
        </p:nvSpPr>
        <p:spPr>
          <a:xfrm>
            <a:off x="3291840" y="3931920"/>
            <a:ext cx="2514600" cy="685800"/>
          </a:xfrm>
          <a:prstGeom prst="rect">
            <a:avLst/>
          </a:prstGeom>
          <a:noFill/>
          <a:ln/>
        </p:spPr>
        <p:txBody>
          <a:bodyPr wrap="square" lIns="0" tIns="0" rIns="0" bIns="0" rtlCol="0" anchor="t"/>
          <a:lstStyle/>
          <a:p>
            <a:pPr indent="0" marL="0">
              <a:buNone/>
            </a:pPr>
            <a:r>
              <a:rPr lang="en-US" sz="1000" dirty="0">
                <a:solidFill>
                  <a:srgbClr val="0B1F3A"/>
                </a:solidFill>
                <a:latin typeface="Calibri" pitchFamily="34" charset="0"/>
                <a:ea typeface="Calibri" pitchFamily="34" charset="-122"/>
                <a:cs typeface="Calibri" pitchFamily="34" charset="-120"/>
              </a:rPr>
              <a:t>Used only on each local link, so they change at every hop.</a:t>
            </a:r>
            <a:endParaRPr lang="en-US" sz="1000" dirty="0"/>
          </a:p>
        </p:txBody>
      </p:sp>
      <p:sp>
        <p:nvSpPr>
          <p:cNvPr id="36" name="Text 33"/>
          <p:cNvSpPr txBox="1"/>
          <p:nvPr/>
        </p:nvSpPr>
        <p:spPr>
          <a:xfrm>
            <a:off x="6035040" y="3657600"/>
            <a:ext cx="2697480" cy="960120"/>
          </a:xfrm>
          <a:prstGeom prst="roundRect">
            <a:avLst>
              <a:gd name="adj" fmla="val 5714"/>
            </a:avLst>
          </a:prstGeom>
          <a:solidFill>
            <a:srgbClr val="EAF1F6"/>
          </a:solidFill>
          <a:ln/>
        </p:spPr>
        <p:txBody>
          <a:bodyPr wrap="square" lIns="38100" tIns="38100" rIns="38100" bIns="38100" rtlCol="0" anchor="ctr"/>
          <a:lstStyle/>
          <a:p>
            <a:pPr algn="ctr" indent="0" marL="0">
              <a:buNone/>
            </a:pPr>
            <a:endParaRPr lang="en-US" sz="1100" dirty="0"/>
          </a:p>
        </p:txBody>
      </p:sp>
      <p:sp>
        <p:nvSpPr>
          <p:cNvPr id="37" name="Text 34"/>
          <p:cNvSpPr txBox="1"/>
          <p:nvPr/>
        </p:nvSpPr>
        <p:spPr>
          <a:xfrm>
            <a:off x="6126480" y="3703320"/>
            <a:ext cx="2514600" cy="228600"/>
          </a:xfrm>
          <a:prstGeom prst="rect">
            <a:avLst/>
          </a:prstGeom>
          <a:noFill/>
          <a:ln/>
        </p:spPr>
        <p:txBody>
          <a:bodyPr wrap="square" lIns="0" tIns="0" rIns="0" bIns="0" rtlCol="0" anchor="t"/>
          <a:lstStyle/>
          <a:p>
            <a:pPr indent="0" marL="0">
              <a:buNone/>
            </a:pPr>
            <a:r>
              <a:rPr lang="en-US" sz="1100" b="1" dirty="0">
                <a:solidFill>
                  <a:srgbClr val="0E7C86"/>
                </a:solidFill>
                <a:latin typeface="Calibri" pitchFamily="34" charset="0"/>
                <a:ea typeface="Calibri" pitchFamily="34" charset="-122"/>
                <a:cs typeface="Calibri" pitchFamily="34" charset="-120"/>
              </a:rPr>
              <a:t>Ports</a:t>
            </a:r>
            <a:endParaRPr lang="en-US" sz="1100" dirty="0"/>
          </a:p>
        </p:txBody>
      </p:sp>
      <p:sp>
        <p:nvSpPr>
          <p:cNvPr id="38" name="Text 35"/>
          <p:cNvSpPr txBox="1"/>
          <p:nvPr/>
        </p:nvSpPr>
        <p:spPr>
          <a:xfrm>
            <a:off x="6126480" y="3931920"/>
            <a:ext cx="2514600" cy="685800"/>
          </a:xfrm>
          <a:prstGeom prst="rect">
            <a:avLst/>
          </a:prstGeom>
          <a:noFill/>
          <a:ln/>
        </p:spPr>
        <p:txBody>
          <a:bodyPr wrap="square" lIns="0" tIns="0" rIns="0" bIns="0" rtlCol="0" anchor="t"/>
          <a:lstStyle/>
          <a:p>
            <a:pPr indent="0" marL="0">
              <a:buNone/>
            </a:pPr>
            <a:r>
              <a:rPr lang="en-US" sz="1000" dirty="0">
                <a:solidFill>
                  <a:srgbClr val="0B1F3A"/>
                </a:solidFill>
                <a:latin typeface="Calibri" pitchFamily="34" charset="0"/>
                <a:ea typeface="Calibri" pitchFamily="34" charset="-122"/>
                <a:cs typeface="Calibri" pitchFamily="34" charset="-120"/>
              </a:rPr>
              <a:t>Client uses a temporary source port; destination is TCP 443.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Protocol Analysis Table</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PROTOCOLS</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8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914400"/>
          <a:ext cx="8412480" cy="914400"/>
        </p:xfrm>
        <a:graphic>
          <a:graphicData uri="http://schemas.openxmlformats.org/drawingml/2006/table">
            <a:tbl>
              <a:tblPr/>
              <a:tblGrid>
                <a:gridCol w="1280160"/>
                <a:gridCol w="1645920"/>
                <a:gridCol w="1554480"/>
                <a:gridCol w="1828800"/>
                <a:gridCol w="210312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TCP/IP layer</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Protocol</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PDU</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Addressing information</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r>
              <a:tr h="0">
                <a:tc>
                  <a:txBody>
                    <a:bodyPr/>
                    <a:lstStyle/>
                    <a:p>
                      <a:pPr indent="0" marL="0">
                        <a:buNone/>
                      </a:pPr>
                      <a:r>
                        <a:rPr lang="en-US" sz="1050" b="1" dirty="0">
                          <a:solidFill>
                            <a:srgbClr val="0B1F3A"/>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DNS</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DNS message</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Domain name</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Resolves a domain name to an IP address</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r h="0">
                <a:tc>
                  <a:txBody>
                    <a:bodyPr/>
                    <a:lstStyle/>
                    <a:p>
                      <a:pPr indent="0" marL="0">
                        <a:buNone/>
                      </a:pPr>
                      <a:r>
                        <a:rPr lang="en-US" sz="1050" b="1" dirty="0">
                          <a:solidFill>
                            <a:srgbClr val="0B1F3A"/>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HTTPS (HTTP over TLS)</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HTTP message / TLS record</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URL / domain name</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Secure web request and response</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A"/>
                          </a:solidFill>
                          <a:latin typeface="Calibri" pitchFamily="34" charset="0"/>
                          <a:ea typeface="Calibri" pitchFamily="34" charset="-122"/>
                          <a:cs typeface="Calibri" pitchFamily="34" charset="-120"/>
                        </a:rPr>
                        <a:t>Transport</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TCP</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Segment</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Port numbers (443)</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Reliable, ordered delivery</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r h="0">
                <a:tc>
                  <a:txBody>
                    <a:bodyPr/>
                    <a:lstStyle/>
                    <a:p>
                      <a:pPr indent="0" marL="0">
                        <a:buNone/>
                      </a:pPr>
                      <a:r>
                        <a:rPr lang="en-US" sz="1050" b="1" dirty="0">
                          <a:solidFill>
                            <a:srgbClr val="0B1F3A"/>
                          </a:solidFill>
                          <a:latin typeface="Calibri" pitchFamily="34" charset="0"/>
                          <a:ea typeface="Calibri" pitchFamily="34" charset="-122"/>
                          <a:cs typeface="Calibri" pitchFamily="34" charset="-120"/>
                        </a:rPr>
                        <a:t>Transport</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UDP</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Datagram</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Port numbers (53)</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Low-overhead delivery (DNS queries)</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A"/>
                          </a:solidFill>
                          <a:latin typeface="Calibri" pitchFamily="34" charset="0"/>
                          <a:ea typeface="Calibri" pitchFamily="34" charset="-122"/>
                          <a:cs typeface="Calibri" pitchFamily="34" charset="-120"/>
                        </a:rPr>
                        <a:t>Internet</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IP</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Packet</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Source / destination IP</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Routing between networks</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r h="0">
                <a:tc>
                  <a:txBody>
                    <a:bodyPr/>
                    <a:lstStyle/>
                    <a:p>
                      <a:pPr indent="0" marL="0">
                        <a:buNone/>
                      </a:pPr>
                      <a:r>
                        <a:rPr lang="en-US" sz="1050" b="1" dirty="0">
                          <a:solidFill>
                            <a:srgbClr val="0B1F3A"/>
                          </a:solidFill>
                          <a:latin typeface="Calibri" pitchFamily="34" charset="0"/>
                          <a:ea typeface="Calibri" pitchFamily="34" charset="-122"/>
                          <a:cs typeface="Calibri" pitchFamily="34" charset="-120"/>
                        </a:rPr>
                        <a:t>Network Access</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Ethernet / Wi-Fi</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Frame</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Source / destination MAC</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Delivery on the local link</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B1F3A"/>
                          </a:solidFill>
                          <a:latin typeface="Calibri" pitchFamily="34" charset="0"/>
                          <a:ea typeface="Calibri" pitchFamily="34" charset="-122"/>
                          <a:cs typeface="Calibri" pitchFamily="34" charset="-120"/>
                        </a:rPr>
                        <a:t>Network Access</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ARP (IPv4)</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ARP message</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IP to MAC</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050" dirty="0">
                          <a:solidFill>
                            <a:srgbClr val="0B1F3A"/>
                          </a:solidFill>
                          <a:latin typeface="Calibri" pitchFamily="34" charset="0"/>
                          <a:ea typeface="Calibri" pitchFamily="34" charset="-122"/>
                          <a:cs typeface="Calibri" pitchFamily="34" charset="-120"/>
                        </a:rPr>
                        <a:t>Finds next-hop MAC address</a:t>
                      </a:r>
                      <a:endParaRPr lang="en-US" sz="105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TCP vs UDP</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TRANSPORT LAYER</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9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645920"/>
                <a:gridCol w="3291840"/>
                <a:gridCol w="329184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TCP</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UDP</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0B1F3A"/>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Connection</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Connection-oriented (handshake)</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Connectionless</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Reliability</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Acknowledgements, retransmission</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No delivery guarantee</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Ordering</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Sequence numbers, ordered delivery</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Not ordered</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Overhead</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Higher (20+ byte header, state)</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Lower (8 byte header)</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B1F3A"/>
                          </a:solidFill>
                          <a:latin typeface="Calibri" pitchFamily="34" charset="0"/>
                          <a:ea typeface="Calibri" pitchFamily="34" charset="-122"/>
                          <a:cs typeface="Calibri" pitchFamily="34" charset="-120"/>
                        </a:rPr>
                        <a:t>Examples</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HTTPS (443), SSH (22)</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c>
                  <a:txBody>
                    <a:bodyPr/>
                    <a:lstStyle/>
                    <a:p>
                      <a:pPr indent="0" marL="0">
                        <a:buNone/>
                      </a:pPr>
                      <a:r>
                        <a:rPr lang="en-US" sz="1300" dirty="0">
                          <a:solidFill>
                            <a:srgbClr val="0B1F3A"/>
                          </a:solidFill>
                          <a:latin typeface="Calibri" pitchFamily="34" charset="0"/>
                          <a:ea typeface="Calibri" pitchFamily="34" charset="-122"/>
                          <a:cs typeface="Calibri" pitchFamily="34" charset="-120"/>
                        </a:rPr>
                        <a:t>DNS (53), online gaming, real-time media</a:t>
                      </a:r>
                      <a:endParaRPr lang="en-US" sz="1300" dirty="0">
                        <a:latin typeface="Calibri" charset="0"/>
                        <a:ea typeface="Calibri" charset="0"/>
                        <a:cs typeface="Calibri" charset="0"/>
                      </a:endParaRPr>
                    </a:p>
                  </a:txBody>
                  <a:tcPr marL="63500" marR="63500" marT="38100" marB="38100" anchor="ctr">
                    <a:lnL w="6350" cap="flat" cmpd="sng" algn="ctr">
                      <a:solidFill>
                        <a:srgbClr val="C5D2DD"/>
                      </a:solidFill>
                      <a:prstDash val="solid"/>
                      <a:round/>
                      <a:headEnd type="none" w="med" len="med"/>
                      <a:tailEnd type="none" w="med" len="med"/>
                    </a:lnL>
                    <a:lnR w="6350" cap="flat" cmpd="sng" algn="ctr">
                      <a:solidFill>
                        <a:srgbClr val="C5D2DD"/>
                      </a:solidFill>
                      <a:prstDash val="solid"/>
                      <a:round/>
                      <a:headEnd type="none" w="med" len="med"/>
                      <a:tailEnd type="none" w="med" len="med"/>
                    </a:lnR>
                    <a:lnT w="6350" cap="flat" cmpd="sng" algn="ctr">
                      <a:solidFill>
                        <a:srgbClr val="C5D2DD"/>
                      </a:solidFill>
                      <a:prstDash val="solid"/>
                      <a:round/>
                      <a:headEnd type="none" w="med" len="med"/>
                      <a:tailEnd type="none" w="med" len="med"/>
                    </a:lnT>
                    <a:lnB w="6350" cap="flat" cmpd="sng" algn="ctr">
                      <a:solidFill>
                        <a:srgbClr val="C5D2DD"/>
                      </a:solidFill>
                      <a:prstDash val="solid"/>
                      <a:round/>
                      <a:headEnd type="none" w="med" len="med"/>
                      <a:tailEnd type="none" w="med" len="med"/>
                    </a:lnB>
                    <a:solidFill>
                      <a:srgbClr val="EAF1F6"/>
                    </a:solidFill>
                  </a:tcPr>
                </a:tc>
              </a:tr>
            </a:tbl>
          </a:graphicData>
        </a:graphic>
      </p:graphicFrame>
      <p:sp>
        <p:nvSpPr>
          <p:cNvPr id="11" name="Text 7"/>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300" dirty="0">
                <a:solidFill>
                  <a:srgbClr val="4A5A6A"/>
                </a:solidFill>
                <a:latin typeface="Calibri" pitchFamily="34" charset="0"/>
                <a:ea typeface="Calibri" pitchFamily="34" charset="-122"/>
                <a:cs typeface="Calibri" pitchFamily="34" charset="-120"/>
              </a:rPr>
              <a:t>UDP is not simply "faster": it has lower overhead and no TCP reliability mechanisms, so applications choose it for timeliness or build their own recovery. HTTP/3 uses QUIC over UDP.</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Realistic Communication Failure: DNS Resolution Failure</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FAILURE SCENARIO</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10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Text 7"/>
          <p:cNvSpPr txBox="1"/>
          <p:nvPr/>
        </p:nvSpPr>
        <p:spPr>
          <a:xfrm>
            <a:off x="411480" y="1097280"/>
            <a:ext cx="1463040" cy="731520"/>
          </a:xfrm>
          <a:prstGeom prst="roundRect">
            <a:avLst>
              <a:gd name="adj" fmla="val 7500"/>
            </a:avLst>
          </a:prstGeom>
          <a:solidFill>
            <a:srgbClr val="0B1F3A"/>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User</a:t>
            </a:r>
            <a:endParaRPr lang="en-US" sz="1200" dirty="0"/>
          </a:p>
        </p:txBody>
      </p:sp>
      <p:sp>
        <p:nvSpPr>
          <p:cNvPr id="11" name="Text 8"/>
          <p:cNvSpPr txBox="1"/>
          <p:nvPr/>
        </p:nvSpPr>
        <p:spPr>
          <a:xfrm>
            <a:off x="2148840" y="1097280"/>
            <a:ext cx="1463040" cy="731520"/>
          </a:xfrm>
          <a:prstGeom prst="roundRect">
            <a:avLst>
              <a:gd name="adj" fmla="val 7500"/>
            </a:avLst>
          </a:prstGeom>
          <a:solidFill>
            <a:srgbClr val="0B1F3A"/>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Browser</a:t>
            </a:r>
            <a:endParaRPr lang="en-US" sz="1200" dirty="0"/>
          </a:p>
        </p:txBody>
      </p:sp>
      <p:sp>
        <p:nvSpPr>
          <p:cNvPr id="12" name="Text 9"/>
          <p:cNvSpPr txBox="1"/>
          <p:nvPr/>
        </p:nvSpPr>
        <p:spPr>
          <a:xfrm>
            <a:off x="3886200" y="1097280"/>
            <a:ext cx="1463040" cy="731520"/>
          </a:xfrm>
          <a:prstGeom prst="roundRect">
            <a:avLst>
              <a:gd name="adj" fmla="val 7500"/>
            </a:avLst>
          </a:prstGeom>
          <a:solidFill>
            <a:srgbClr val="0E7C86"/>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DNS resolution</a:t>
            </a:r>
            <a:endParaRPr lang="en-US" sz="1200" dirty="0"/>
          </a:p>
        </p:txBody>
      </p:sp>
      <p:sp>
        <p:nvSpPr>
          <p:cNvPr id="13" name="Text 10"/>
          <p:cNvSpPr txBox="1"/>
          <p:nvPr/>
        </p:nvSpPr>
        <p:spPr>
          <a:xfrm>
            <a:off x="5623560" y="1097280"/>
            <a:ext cx="1463040" cy="731520"/>
          </a:xfrm>
          <a:prstGeom prst="roundRect">
            <a:avLst>
              <a:gd name="adj" fmla="val 7500"/>
            </a:avLst>
          </a:prstGeom>
          <a:solidFill>
            <a:srgbClr val="B42318"/>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DNS FAILURE</a:t>
            </a:r>
            <a:endParaRPr lang="en-US" sz="1200" dirty="0"/>
          </a:p>
        </p:txBody>
      </p:sp>
      <p:sp>
        <p:nvSpPr>
          <p:cNvPr id="14" name="Text 11"/>
          <p:cNvSpPr txBox="1"/>
          <p:nvPr/>
        </p:nvSpPr>
        <p:spPr>
          <a:xfrm>
            <a:off x="7360920" y="1097280"/>
            <a:ext cx="1463040" cy="731520"/>
          </a:xfrm>
          <a:prstGeom prst="roundRect">
            <a:avLst>
              <a:gd name="adj" fmla="val 7500"/>
            </a:avLst>
          </a:prstGeom>
          <a:solidFill>
            <a:srgbClr val="4A5A6A"/>
          </a:solid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unavailable</a:t>
            </a:r>
            <a:endParaRPr lang="en-US" sz="1200" dirty="0"/>
          </a:p>
        </p:txBody>
      </p:sp>
      <p:sp>
        <p:nvSpPr>
          <p:cNvPr id="15" name="Shape 12"/>
          <p:cNvSpPr/>
          <p:nvPr/>
        </p:nvSpPr>
        <p:spPr>
          <a:xfrm>
            <a:off x="1874520" y="1463040"/>
            <a:ext cx="274320" cy="0"/>
          </a:xfrm>
          <a:prstGeom prst="line">
            <a:avLst/>
          </a:prstGeom>
          <a:noFill/>
          <a:ln w="19050">
            <a:solidFill>
              <a:srgbClr val="4A5A6A"/>
            </a:solidFill>
            <a:prstDash val="solid"/>
            <a:tailEnd type="triangle"/>
          </a:ln>
        </p:spPr>
      </p:sp>
      <p:sp>
        <p:nvSpPr>
          <p:cNvPr id="16" name="Shape 13"/>
          <p:cNvSpPr/>
          <p:nvPr/>
        </p:nvSpPr>
        <p:spPr>
          <a:xfrm>
            <a:off x="3611880" y="1463040"/>
            <a:ext cx="274320" cy="0"/>
          </a:xfrm>
          <a:prstGeom prst="line">
            <a:avLst/>
          </a:prstGeom>
          <a:noFill/>
          <a:ln w="19050">
            <a:solidFill>
              <a:srgbClr val="4A5A6A"/>
            </a:solidFill>
            <a:prstDash val="solid"/>
            <a:tailEnd type="triangle"/>
          </a:ln>
        </p:spPr>
      </p:sp>
      <p:sp>
        <p:nvSpPr>
          <p:cNvPr id="17" name="Shape 14"/>
          <p:cNvSpPr/>
          <p:nvPr/>
        </p:nvSpPr>
        <p:spPr>
          <a:xfrm>
            <a:off x="5349240" y="1463040"/>
            <a:ext cx="274320" cy="0"/>
          </a:xfrm>
          <a:prstGeom prst="line">
            <a:avLst/>
          </a:prstGeom>
          <a:noFill/>
          <a:ln w="19050">
            <a:solidFill>
              <a:srgbClr val="4A5A6A"/>
            </a:solidFill>
            <a:prstDash val="solid"/>
            <a:tailEnd type="triangle"/>
          </a:ln>
        </p:spPr>
      </p:sp>
      <p:sp>
        <p:nvSpPr>
          <p:cNvPr id="18" name="Shape 15"/>
          <p:cNvSpPr/>
          <p:nvPr/>
        </p:nvSpPr>
        <p:spPr>
          <a:xfrm>
            <a:off x="7086600" y="1463040"/>
            <a:ext cx="274320" cy="0"/>
          </a:xfrm>
          <a:prstGeom prst="line">
            <a:avLst/>
          </a:prstGeom>
          <a:noFill/>
          <a:ln w="19050">
            <a:solidFill>
              <a:srgbClr val="4A5A6A"/>
            </a:solidFill>
            <a:prstDash val="solid"/>
            <a:tailEnd type="triangle"/>
          </a:ln>
        </p:spPr>
      </p:sp>
      <p:sp>
        <p:nvSpPr>
          <p:cNvPr id="19" name="Shape 16"/>
          <p:cNvSpPr/>
          <p:nvPr/>
        </p:nvSpPr>
        <p:spPr>
          <a:xfrm>
            <a:off x="292608" y="2157984"/>
            <a:ext cx="8558784" cy="2414016"/>
          </a:xfrm>
          <a:prstGeom prst="roundRect">
            <a:avLst>
              <a:gd name="adj" fmla="val 3030"/>
            </a:avLst>
          </a:prstGeom>
          <a:solidFill>
            <a:srgbClr val="F7FAFC"/>
          </a:solidFill>
          <a:ln w="9525">
            <a:solidFill>
              <a:srgbClr val="D3DFE9"/>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457200" y="2286000"/>
            <a:ext cx="8229600" cy="21945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Symptom: https://example.com does not open, though other connectivity may work.</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Cause: the client cannot resolve the name, so no TCP connection is attempted.</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Realistic causes: unreachable DNS server, wrong client DNS setting, wrong DHCP or router DNS configuration.</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Key point: a DNS failure is not the same as a general internet connectivity failure.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Troubleshooting the DNS Failure</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TROUBLESHOOTING</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11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Text 7"/>
          <p:cNvSpPr txBox="1"/>
          <p:nvPr/>
        </p:nvSpPr>
        <p:spPr>
          <a:xfrm>
            <a:off x="365760" y="1005840"/>
            <a:ext cx="1965960" cy="457200"/>
          </a:xfrm>
          <a:prstGeom prst="roundRect">
            <a:avLst>
              <a:gd name="adj" fmla="val 12000"/>
            </a:avLst>
          </a:prstGeom>
          <a:solidFill>
            <a:srgbClr val="0B1F3A"/>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  Identify</a:t>
            </a:r>
            <a:endParaRPr lang="en-US" sz="1400" dirty="0"/>
          </a:p>
        </p:txBody>
      </p:sp>
      <p:sp>
        <p:nvSpPr>
          <p:cNvPr id="11" name="Text 8"/>
          <p:cNvSpPr txBox="1"/>
          <p:nvPr/>
        </p:nvSpPr>
        <p:spPr>
          <a:xfrm>
            <a:off x="365760" y="1508760"/>
            <a:ext cx="1965960" cy="2194560"/>
          </a:xfrm>
          <a:prstGeom prst="roundRect">
            <a:avLst>
              <a:gd name="adj" fmla="val 2791"/>
            </a:avLst>
          </a:prstGeom>
          <a:solidFill>
            <a:srgbClr val="EAF1F6"/>
          </a:solidFill>
          <a:ln/>
        </p:spPr>
        <p:txBody>
          <a:bodyPr wrap="square" lIns="38100" tIns="38100" rIns="38100" bIns="38100" rtlCol="0" anchor="ctr"/>
          <a:lstStyle/>
          <a:p>
            <a:pPr algn="ctr" indent="0" marL="0">
              <a:buNone/>
            </a:pPr>
            <a:endParaRPr lang="en-US" sz="1100" dirty="0"/>
          </a:p>
        </p:txBody>
      </p:sp>
      <p:sp>
        <p:nvSpPr>
          <p:cNvPr id="12" name="Text 9"/>
          <p:cNvSpPr txBox="1"/>
          <p:nvPr/>
        </p:nvSpPr>
        <p:spPr>
          <a:xfrm>
            <a:off x="457200" y="1600200"/>
            <a:ext cx="1783080" cy="2011680"/>
          </a:xfrm>
          <a:prstGeom prst="rect">
            <a:avLst/>
          </a:prstGeom>
          <a:noFill/>
          <a:ln/>
        </p:spPr>
        <p:txBody>
          <a:bodyPr wrap="square" lIns="0" tIns="0" rIns="0" bIns="0" rtlCol="0" anchor="t"/>
          <a:lstStyle/>
          <a:p>
            <a:pPr indent="0" marL="0">
              <a:buNone/>
            </a:pPr>
            <a:r>
              <a:rPr lang="en-US" sz="1150" dirty="0">
                <a:solidFill>
                  <a:srgbClr val="0B1F3A"/>
                </a:solidFill>
                <a:latin typeface="Calibri" pitchFamily="34" charset="0"/>
                <a:ea typeface="Calibri" pitchFamily="34" charset="-122"/>
                <a:cs typeface="Calibri" pitchFamily="34" charset="-120"/>
              </a:rPr>
              <a:t>ipconfig /all</a:t>
            </a:r>
            <a:endParaRPr lang="en-US" sz="1150" dirty="0"/>
          </a:p>
          <a:p>
            <a:pPr indent="0" marL="0">
              <a:buNone/>
            </a:pPr>
            <a:r>
              <a:rPr lang="en-US" sz="1150" dirty="0">
                <a:solidFill>
                  <a:srgbClr val="0B1F3A"/>
                </a:solidFill>
                <a:latin typeface="Calibri" pitchFamily="34" charset="0"/>
                <a:ea typeface="Calibri" pitchFamily="34" charset="-122"/>
                <a:cs typeface="Calibri" pitchFamily="34" charset="-120"/>
              </a:rPr>
              <a:t>Check IP, gateway and DNS servers.</a:t>
            </a:r>
            <a:endParaRPr lang="en-US" sz="1150" dirty="0"/>
          </a:p>
          <a:p>
            <a:pPr indent="0" marL="0">
              <a:buNone/>
            </a:pPr>
            <a:r>
              <a:rPr lang="en-US" sz="1150" dirty="0">
                <a:solidFill>
                  <a:srgbClr val="0B1F3A"/>
                </a:solidFill>
                <a:latin typeface="Calibri" pitchFamily="34" charset="0"/>
                <a:ea typeface="Calibri" pitchFamily="34" charset="-122"/>
                <a:cs typeface="Calibri" pitchFamily="34" charset="-120"/>
              </a:rPr>
              <a:t>Note symptom: site will not open.</a:t>
            </a:r>
            <a:endParaRPr lang="en-US" sz="1150" dirty="0"/>
          </a:p>
        </p:txBody>
      </p:sp>
      <p:sp>
        <p:nvSpPr>
          <p:cNvPr id="13" name="Text 10"/>
          <p:cNvSpPr txBox="1"/>
          <p:nvPr/>
        </p:nvSpPr>
        <p:spPr>
          <a:xfrm>
            <a:off x="2468880" y="1005840"/>
            <a:ext cx="1965960" cy="457200"/>
          </a:xfrm>
          <a:prstGeom prst="roundRect">
            <a:avLst>
              <a:gd name="adj" fmla="val 12000"/>
            </a:avLst>
          </a:prstGeom>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  Diagnose</a:t>
            </a:r>
            <a:endParaRPr lang="en-US" sz="1400" dirty="0"/>
          </a:p>
        </p:txBody>
      </p:sp>
      <p:sp>
        <p:nvSpPr>
          <p:cNvPr id="14" name="Text 11"/>
          <p:cNvSpPr txBox="1"/>
          <p:nvPr/>
        </p:nvSpPr>
        <p:spPr>
          <a:xfrm>
            <a:off x="2468880" y="1508760"/>
            <a:ext cx="1965960" cy="2194560"/>
          </a:xfrm>
          <a:prstGeom prst="roundRect">
            <a:avLst>
              <a:gd name="adj" fmla="val 2791"/>
            </a:avLst>
          </a:prstGeom>
          <a:solidFill>
            <a:srgbClr val="EAF1F6"/>
          </a:solidFill>
          <a:ln/>
        </p:spPr>
        <p:txBody>
          <a:bodyPr wrap="square" lIns="38100" tIns="38100" rIns="38100" bIns="38100" rtlCol="0" anchor="ctr"/>
          <a:lstStyle/>
          <a:p>
            <a:pPr algn="ctr" indent="0" marL="0">
              <a:buNone/>
            </a:pPr>
            <a:endParaRPr lang="en-US" sz="1100" dirty="0"/>
          </a:p>
        </p:txBody>
      </p:sp>
      <p:sp>
        <p:nvSpPr>
          <p:cNvPr id="15" name="Text 12"/>
          <p:cNvSpPr txBox="1"/>
          <p:nvPr/>
        </p:nvSpPr>
        <p:spPr>
          <a:xfrm>
            <a:off x="2560320" y="1600200"/>
            <a:ext cx="1783080" cy="2011680"/>
          </a:xfrm>
          <a:prstGeom prst="rect">
            <a:avLst/>
          </a:prstGeom>
          <a:noFill/>
          <a:ln/>
        </p:spPr>
        <p:txBody>
          <a:bodyPr wrap="square" lIns="0" tIns="0" rIns="0" bIns="0" rtlCol="0" anchor="t"/>
          <a:lstStyle/>
          <a:p>
            <a:pPr indent="0" marL="0">
              <a:buNone/>
            </a:pPr>
            <a:r>
              <a:rPr lang="en-US" sz="1150" dirty="0">
                <a:solidFill>
                  <a:srgbClr val="0B1F3A"/>
                </a:solidFill>
                <a:latin typeface="Calibri" pitchFamily="34" charset="0"/>
                <a:ea typeface="Calibri" pitchFamily="34" charset="-122"/>
                <a:cs typeface="Calibri" pitchFamily="34" charset="-120"/>
              </a:rPr>
              <a:t>ping 8.8.8.8 (IP path)</a:t>
            </a:r>
            <a:endParaRPr lang="en-US" sz="1150" dirty="0"/>
          </a:p>
          <a:p>
            <a:pPr indent="0" marL="0">
              <a:buNone/>
            </a:pPr>
            <a:r>
              <a:rPr lang="en-US" sz="1150" dirty="0">
                <a:solidFill>
                  <a:srgbClr val="0B1F3A"/>
                </a:solidFill>
                <a:latin typeface="Calibri" pitchFamily="34" charset="0"/>
                <a:ea typeface="Calibri" pitchFamily="34" charset="-122"/>
                <a:cs typeface="Calibri" pitchFamily="34" charset="-120"/>
              </a:rPr>
              <a:t>nslookup example.com (DNS)</a:t>
            </a:r>
            <a:endParaRPr lang="en-US" sz="1150" dirty="0"/>
          </a:p>
          <a:p>
            <a:pPr indent="0" marL="0">
              <a:buNone/>
            </a:pPr>
            <a:r>
              <a:rPr lang="en-US" sz="1150" dirty="0">
                <a:solidFill>
                  <a:srgbClr val="0B1F3A"/>
                </a:solidFill>
                <a:latin typeface="Calibri" pitchFamily="34" charset="0"/>
                <a:ea typeface="Calibri" pitchFamily="34" charset="-122"/>
                <a:cs typeface="Calibri" pitchFamily="34" charset="-120"/>
              </a:rPr>
              <a:t>IP works but DNS fails: check DNS server, client settings, router/DHCP.</a:t>
            </a:r>
            <a:endParaRPr lang="en-US" sz="1150" dirty="0"/>
          </a:p>
        </p:txBody>
      </p:sp>
      <p:sp>
        <p:nvSpPr>
          <p:cNvPr id="16" name="Text 13"/>
          <p:cNvSpPr txBox="1"/>
          <p:nvPr/>
        </p:nvSpPr>
        <p:spPr>
          <a:xfrm>
            <a:off x="4572000" y="1005840"/>
            <a:ext cx="1965960" cy="457200"/>
          </a:xfrm>
          <a:prstGeom prst="roundRect">
            <a:avLst>
              <a:gd name="adj" fmla="val 12000"/>
            </a:avLst>
          </a:prstGeom>
          <a:solidFill>
            <a:srgbClr val="C96A1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  Resolve</a:t>
            </a:r>
            <a:endParaRPr lang="en-US" sz="1400" dirty="0"/>
          </a:p>
        </p:txBody>
      </p:sp>
      <p:sp>
        <p:nvSpPr>
          <p:cNvPr id="17" name="Text 14"/>
          <p:cNvSpPr txBox="1"/>
          <p:nvPr/>
        </p:nvSpPr>
        <p:spPr>
          <a:xfrm>
            <a:off x="4572000" y="1508760"/>
            <a:ext cx="1965960" cy="2194560"/>
          </a:xfrm>
          <a:prstGeom prst="roundRect">
            <a:avLst>
              <a:gd name="adj" fmla="val 2791"/>
            </a:avLst>
          </a:prstGeom>
          <a:solidFill>
            <a:srgbClr val="EAF1F6"/>
          </a:solidFill>
          <a:ln/>
        </p:spPr>
        <p:txBody>
          <a:bodyPr wrap="square" lIns="38100" tIns="38100" rIns="38100" bIns="38100" rtlCol="0" anchor="ctr"/>
          <a:lstStyle/>
          <a:p>
            <a:pPr algn="ctr" indent="0" marL="0">
              <a:buNone/>
            </a:pPr>
            <a:endParaRPr lang="en-US" sz="1100" dirty="0"/>
          </a:p>
        </p:txBody>
      </p:sp>
      <p:sp>
        <p:nvSpPr>
          <p:cNvPr id="18" name="Text 15"/>
          <p:cNvSpPr txBox="1"/>
          <p:nvPr/>
        </p:nvSpPr>
        <p:spPr>
          <a:xfrm>
            <a:off x="4663440" y="1600200"/>
            <a:ext cx="1783080" cy="2011680"/>
          </a:xfrm>
          <a:prstGeom prst="rect">
            <a:avLst/>
          </a:prstGeom>
          <a:noFill/>
          <a:ln/>
        </p:spPr>
        <p:txBody>
          <a:bodyPr wrap="square" lIns="0" tIns="0" rIns="0" bIns="0" rtlCol="0" anchor="t"/>
          <a:lstStyle/>
          <a:p>
            <a:pPr indent="0" marL="0">
              <a:buNone/>
            </a:pPr>
            <a:r>
              <a:rPr lang="en-US" sz="1150" dirty="0">
                <a:solidFill>
                  <a:srgbClr val="0B1F3A"/>
                </a:solidFill>
                <a:latin typeface="Calibri" pitchFamily="34" charset="0"/>
                <a:ea typeface="Calibri" pitchFamily="34" charset="-122"/>
                <a:cs typeface="Calibri" pitchFamily="34" charset="-120"/>
              </a:rPr>
              <a:t>Correct the DNS configuration, or use a functioning resolver suited to the network.</a:t>
            </a:r>
            <a:endParaRPr lang="en-US" sz="1150" dirty="0"/>
          </a:p>
        </p:txBody>
      </p:sp>
      <p:sp>
        <p:nvSpPr>
          <p:cNvPr id="19" name="Text 16"/>
          <p:cNvSpPr txBox="1"/>
          <p:nvPr/>
        </p:nvSpPr>
        <p:spPr>
          <a:xfrm>
            <a:off x="6675120" y="1005840"/>
            <a:ext cx="1965960" cy="457200"/>
          </a:xfrm>
          <a:prstGeom prst="roundRect">
            <a:avLst>
              <a:gd name="adj" fmla="val 12000"/>
            </a:avLst>
          </a:prstGeom>
          <a:solidFill>
            <a:srgbClr val="1B7F4B"/>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  Verify</a:t>
            </a:r>
            <a:endParaRPr lang="en-US" sz="1400" dirty="0"/>
          </a:p>
        </p:txBody>
      </p:sp>
      <p:sp>
        <p:nvSpPr>
          <p:cNvPr id="20" name="Text 17"/>
          <p:cNvSpPr txBox="1"/>
          <p:nvPr/>
        </p:nvSpPr>
        <p:spPr>
          <a:xfrm>
            <a:off x="6675120" y="1508760"/>
            <a:ext cx="1965960" cy="2194560"/>
          </a:xfrm>
          <a:prstGeom prst="roundRect">
            <a:avLst>
              <a:gd name="adj" fmla="val 2791"/>
            </a:avLst>
          </a:prstGeom>
          <a:solidFill>
            <a:srgbClr val="EAF1F6"/>
          </a:solidFill>
          <a:ln/>
        </p:spPr>
        <p:txBody>
          <a:bodyPr wrap="square" lIns="38100" tIns="38100" rIns="38100" bIns="38100" rtlCol="0" anchor="ctr"/>
          <a:lstStyle/>
          <a:p>
            <a:pPr algn="ctr" indent="0" marL="0">
              <a:buNone/>
            </a:pPr>
            <a:endParaRPr lang="en-US" sz="1100" dirty="0"/>
          </a:p>
        </p:txBody>
      </p:sp>
      <p:sp>
        <p:nvSpPr>
          <p:cNvPr id="21" name="Text 18"/>
          <p:cNvSpPr txBox="1"/>
          <p:nvPr/>
        </p:nvSpPr>
        <p:spPr>
          <a:xfrm>
            <a:off x="6766560" y="1600200"/>
            <a:ext cx="1783080" cy="2011680"/>
          </a:xfrm>
          <a:prstGeom prst="rect">
            <a:avLst/>
          </a:prstGeom>
          <a:noFill/>
          <a:ln/>
        </p:spPr>
        <p:txBody>
          <a:bodyPr wrap="square" lIns="0" tIns="0" rIns="0" bIns="0" rtlCol="0" anchor="t"/>
          <a:lstStyle/>
          <a:p>
            <a:pPr indent="0" marL="0">
              <a:buNone/>
            </a:pPr>
            <a:r>
              <a:rPr lang="en-US" sz="1150" dirty="0">
                <a:solidFill>
                  <a:srgbClr val="0B1F3A"/>
                </a:solidFill>
                <a:latin typeface="Calibri" pitchFamily="34" charset="0"/>
                <a:ea typeface="Calibri" pitchFamily="34" charset="-122"/>
                <a:cs typeface="Calibri" pitchFamily="34" charset="-120"/>
              </a:rPr>
              <a:t>nslookup example.com</a:t>
            </a:r>
            <a:endParaRPr lang="en-US" sz="1150" dirty="0"/>
          </a:p>
          <a:p>
            <a:pPr indent="0" marL="0">
              <a:buNone/>
            </a:pPr>
            <a:r>
              <a:rPr lang="en-US" sz="1150" dirty="0">
                <a:solidFill>
                  <a:srgbClr val="0B1F3A"/>
                </a:solidFill>
                <a:latin typeface="Calibri" pitchFamily="34" charset="0"/>
                <a:ea typeface="Calibri" pitchFamily="34" charset="-122"/>
                <a:cs typeface="Calibri" pitchFamily="34" charset="-120"/>
              </a:rPr>
              <a:t>Reopen https://example.com</a:t>
            </a:r>
            <a:endParaRPr lang="en-US" sz="1150" dirty="0"/>
          </a:p>
        </p:txBody>
      </p:sp>
      <p:sp>
        <p:nvSpPr>
          <p:cNvPr id="22" name="Text 19"/>
          <p:cNvSpPr txBox="1"/>
          <p:nvPr/>
        </p:nvSpPr>
        <p:spPr>
          <a:xfrm>
            <a:off x="365760" y="3931920"/>
            <a:ext cx="8412480" cy="640080"/>
          </a:xfrm>
          <a:prstGeom prst="rect">
            <a:avLst/>
          </a:prstGeom>
          <a:noFill/>
          <a:ln/>
        </p:spPr>
        <p:txBody>
          <a:bodyPr wrap="square" lIns="0" tIns="0" rIns="0" bIns="0" rtlCol="0" anchor="t"/>
          <a:lstStyle/>
          <a:p>
            <a:pPr indent="0" marL="0">
              <a:buNone/>
            </a:pPr>
            <a:r>
              <a:rPr lang="en-US" sz="1200" dirty="0">
                <a:solidFill>
                  <a:srgbClr val="4A5A6A"/>
                </a:solidFill>
                <a:latin typeface="Calibri" pitchFamily="34" charset="0"/>
                <a:ea typeface="Calibri" pitchFamily="34" charset="-122"/>
                <a:cs typeface="Calibri" pitchFamily="34" charset="-120"/>
              </a:rPr>
              <a:t>These are diagnostic tests: their results decide the diagnosis. A successful ping to 8.8.8.8 does not prove DNS works; nslookup testing the name does.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B1F3A"/>
          </a:solidFill>
          <a:ln w="12700">
            <a:solidFill>
              <a:srgbClr val="0B1F3A"/>
            </a:solidFill>
            <a:prstDash val="solid"/>
          </a:ln>
        </p:spPr>
      </p:sp>
      <p:sp>
        <p:nvSpPr>
          <p:cNvPr id="3" name="Shape 1"/>
          <p:cNvSpPr/>
          <p:nvPr/>
        </p:nvSpPr>
        <p:spPr>
          <a:xfrm>
            <a:off x="0" y="0"/>
            <a:ext cx="164592" cy="731520"/>
          </a:xfrm>
          <a:prstGeom prst="rect">
            <a:avLst/>
          </a:prstGeom>
          <a:solidFill>
            <a:srgbClr val="0E7C86"/>
          </a:solidFill>
          <a:ln w="12700">
            <a:solidFill>
              <a:srgbClr val="0E7C86"/>
            </a:solidFill>
            <a:prstDash val="solid"/>
          </a:ln>
        </p:spPr>
      </p:sp>
      <p:sp>
        <p:nvSpPr>
          <p:cNvPr id="4" name="Text 2"/>
          <p:cNvSpPr txBox="1"/>
          <p:nvPr/>
        </p:nvSpPr>
        <p:spPr>
          <a:xfrm>
            <a:off x="411480" y="91440"/>
            <a:ext cx="6675120" cy="54864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Complete Communication Process and Conclusion</a:t>
            </a:r>
            <a:endParaRPr lang="en-US" sz="2100" dirty="0"/>
          </a:p>
        </p:txBody>
      </p:sp>
      <p:sp>
        <p:nvSpPr>
          <p:cNvPr id="5" name="Text 3"/>
          <p:cNvSpPr txBox="1"/>
          <p:nvPr/>
        </p:nvSpPr>
        <p:spPr>
          <a:xfrm>
            <a:off x="7178040" y="201168"/>
            <a:ext cx="1645920" cy="329184"/>
          </a:xfrm>
          <a:prstGeom prst="roundRect">
            <a:avLst>
              <a:gd name="adj" fmla="val 16667"/>
            </a:avLst>
          </a:prstGeom>
          <a:solidFill>
            <a:srgbClr val="0E7C86"/>
          </a:solidFill>
          <a:ln/>
        </p:spPr>
        <p:txBody>
          <a:bodyPr wrap="square" lIns="38100" tIns="38100" rIns="38100" bIns="3810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SUMMARY</a:t>
            </a:r>
            <a:endParaRPr lang="en-US" sz="900" dirty="0"/>
          </a:p>
        </p:txBody>
      </p:sp>
      <p:sp>
        <p:nvSpPr>
          <p:cNvPr id="6" name="Shape 4"/>
          <p:cNvSpPr/>
          <p:nvPr/>
        </p:nvSpPr>
        <p:spPr>
          <a:xfrm>
            <a:off x="0" y="4709160"/>
            <a:ext cx="9144000" cy="434340"/>
          </a:xfrm>
          <a:prstGeom prst="rect">
            <a:avLst/>
          </a:prstGeom>
          <a:solidFill>
            <a:srgbClr val="F1F5F9"/>
          </a:solidFill>
          <a:ln w="12700">
            <a:solidFill>
              <a:srgbClr val="F1F5F9"/>
            </a:solidFill>
            <a:prstDash val="solid"/>
          </a:ln>
        </p:spPr>
      </p:sp>
      <p:sp>
        <p:nvSpPr>
          <p:cNvPr id="7" name="Text 5"/>
          <p:cNvSpPr txBox="1"/>
          <p:nvPr/>
        </p:nvSpPr>
        <p:spPr>
          <a:xfrm>
            <a:off x="8046720" y="4800600"/>
            <a:ext cx="640080" cy="228600"/>
          </a:xfrm>
          <a:prstGeom prst="rect">
            <a:avLst/>
          </a:prstGeom>
          <a:noFill/>
          <a:ln/>
        </p:spPr>
        <p:txBody>
          <a:bodyPr wrap="square" lIns="0" tIns="0" rIns="0" bIns="0" rtlCol="0" anchor="t"/>
          <a:lstStyle/>
          <a:p>
            <a:pPr algn="r" indent="0" marL="0">
              <a:buNone/>
            </a:pPr>
            <a:r>
              <a:rPr lang="en-US" sz="900" b="1" dirty="0">
                <a:solidFill>
                  <a:srgbClr val="4A5A6A"/>
                </a:solidFill>
                <a:latin typeface="Calibri" pitchFamily="34" charset="0"/>
                <a:ea typeface="Calibri" pitchFamily="34" charset="-122"/>
                <a:cs typeface="Calibri" pitchFamily="34" charset="-120"/>
              </a:rPr>
              <a:t>12 / 12</a:t>
            </a:r>
            <a:endParaRPr lang="en-US" sz="900" dirty="0"/>
          </a:p>
        </p:txBody>
      </p:sp>
      <p:sp>
        <p:nvSpPr>
          <p:cNvPr id="8" name="Text 6"/>
          <p:cNvSpPr txBox="1"/>
          <p:nvPr/>
        </p:nvSpPr>
        <p:spPr>
          <a:xfrm>
            <a:off x="457200" y="4800600"/>
            <a:ext cx="6400800" cy="228600"/>
          </a:xfrm>
          <a:prstGeom prst="rect">
            <a:avLst/>
          </a:prstGeom>
          <a:noFill/>
          <a:ln/>
        </p:spPr>
        <p:txBody>
          <a:bodyPr wrap="square" lIns="0" tIns="0" rIns="0" bIns="0" rtlCol="0" anchor="t"/>
          <a:lstStyle/>
          <a:p>
            <a:pPr indent="0" marL="0">
              <a:buNone/>
            </a:pPr>
            <a:r>
              <a:rPr lang="en-US" sz="900" dirty="0">
                <a:solidFill>
                  <a:srgbClr val="4A5A6A"/>
                </a:solidFill>
                <a:latin typeface="Calibri" pitchFamily="34" charset="0"/>
                <a:ea typeface="Calibri" pitchFamily="34" charset="-122"/>
                <a:cs typeface="Calibri" pitchFamily="34" charset="-120"/>
              </a:rPr>
              <a:t>Muhammad Haseeb  |  Opening a Secure Website: HTTPS and the TCP/IP Model</a:t>
            </a:r>
            <a:endParaRPr lang="en-US" sz="900" dirty="0"/>
          </a:p>
        </p:txBody>
      </p:sp>
      <p:sp>
        <p:nvSpPr>
          <p:cNvPr id="10" name="Text 7"/>
          <p:cNvSpPr txBox="1"/>
          <p:nvPr/>
        </p:nvSpPr>
        <p:spPr>
          <a:xfrm>
            <a:off x="365760" y="1005840"/>
            <a:ext cx="146304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URL entered</a:t>
            </a:r>
            <a:endParaRPr lang="en-US" sz="1150" dirty="0"/>
          </a:p>
        </p:txBody>
      </p:sp>
      <p:sp>
        <p:nvSpPr>
          <p:cNvPr id="11" name="Shape 8"/>
          <p:cNvSpPr/>
          <p:nvPr/>
        </p:nvSpPr>
        <p:spPr>
          <a:xfrm>
            <a:off x="1828800" y="1298448"/>
            <a:ext cx="274320" cy="0"/>
          </a:xfrm>
          <a:prstGeom prst="line">
            <a:avLst/>
          </a:prstGeom>
          <a:noFill/>
          <a:ln w="19050">
            <a:solidFill>
              <a:srgbClr val="4A5A6A"/>
            </a:solidFill>
            <a:prstDash val="solid"/>
            <a:tailEnd type="triangle"/>
          </a:ln>
        </p:spPr>
      </p:sp>
      <p:sp>
        <p:nvSpPr>
          <p:cNvPr id="12" name="Text 9"/>
          <p:cNvSpPr txBox="1"/>
          <p:nvPr/>
        </p:nvSpPr>
        <p:spPr>
          <a:xfrm>
            <a:off x="2103120" y="1005840"/>
            <a:ext cx="146304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DNS resolves</a:t>
            </a:r>
            <a:endParaRPr lang="en-US" sz="1150" dirty="0"/>
          </a:p>
        </p:txBody>
      </p:sp>
      <p:sp>
        <p:nvSpPr>
          <p:cNvPr id="13" name="Shape 10"/>
          <p:cNvSpPr/>
          <p:nvPr/>
        </p:nvSpPr>
        <p:spPr>
          <a:xfrm>
            <a:off x="3566160" y="1298448"/>
            <a:ext cx="274320" cy="0"/>
          </a:xfrm>
          <a:prstGeom prst="line">
            <a:avLst/>
          </a:prstGeom>
          <a:noFill/>
          <a:ln w="19050">
            <a:solidFill>
              <a:srgbClr val="4A5A6A"/>
            </a:solidFill>
            <a:prstDash val="solid"/>
            <a:tailEnd type="triangle"/>
          </a:ln>
        </p:spPr>
      </p:sp>
      <p:sp>
        <p:nvSpPr>
          <p:cNvPr id="14" name="Text 11"/>
          <p:cNvSpPr txBox="1"/>
          <p:nvPr/>
        </p:nvSpPr>
        <p:spPr>
          <a:xfrm>
            <a:off x="3840480" y="1005840"/>
            <a:ext cx="146304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TCP connect</a:t>
            </a:r>
            <a:endParaRPr lang="en-US" sz="1150" dirty="0"/>
          </a:p>
        </p:txBody>
      </p:sp>
      <p:sp>
        <p:nvSpPr>
          <p:cNvPr id="15" name="Shape 12"/>
          <p:cNvSpPr/>
          <p:nvPr/>
        </p:nvSpPr>
        <p:spPr>
          <a:xfrm>
            <a:off x="5303520" y="1298448"/>
            <a:ext cx="274320" cy="0"/>
          </a:xfrm>
          <a:prstGeom prst="line">
            <a:avLst/>
          </a:prstGeom>
          <a:noFill/>
          <a:ln w="19050">
            <a:solidFill>
              <a:srgbClr val="4A5A6A"/>
            </a:solidFill>
            <a:prstDash val="solid"/>
            <a:tailEnd type="triangle"/>
          </a:ln>
        </p:spPr>
      </p:sp>
      <p:sp>
        <p:nvSpPr>
          <p:cNvPr id="16" name="Text 13"/>
          <p:cNvSpPr txBox="1"/>
          <p:nvPr/>
        </p:nvSpPr>
        <p:spPr>
          <a:xfrm>
            <a:off x="5577840" y="1005840"/>
            <a:ext cx="146304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TLS secure</a:t>
            </a:r>
            <a:endParaRPr lang="en-US" sz="1150" dirty="0"/>
          </a:p>
        </p:txBody>
      </p:sp>
      <p:sp>
        <p:nvSpPr>
          <p:cNvPr id="17" name="Shape 14"/>
          <p:cNvSpPr/>
          <p:nvPr/>
        </p:nvSpPr>
        <p:spPr>
          <a:xfrm>
            <a:off x="7040880" y="1298448"/>
            <a:ext cx="274320" cy="0"/>
          </a:xfrm>
          <a:prstGeom prst="line">
            <a:avLst/>
          </a:prstGeom>
          <a:noFill/>
          <a:ln w="19050">
            <a:solidFill>
              <a:srgbClr val="4A5A6A"/>
            </a:solidFill>
            <a:prstDash val="solid"/>
            <a:tailEnd type="triangle"/>
          </a:ln>
        </p:spPr>
      </p:sp>
      <p:sp>
        <p:nvSpPr>
          <p:cNvPr id="18" name="Text 15"/>
          <p:cNvSpPr txBox="1"/>
          <p:nvPr/>
        </p:nvSpPr>
        <p:spPr>
          <a:xfrm>
            <a:off x="7315200" y="1005840"/>
            <a:ext cx="146304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HTTPS request</a:t>
            </a:r>
            <a:endParaRPr lang="en-US" sz="1150" dirty="0"/>
          </a:p>
        </p:txBody>
      </p:sp>
      <p:sp>
        <p:nvSpPr>
          <p:cNvPr id="19" name="Text 16"/>
          <p:cNvSpPr txBox="1"/>
          <p:nvPr/>
        </p:nvSpPr>
        <p:spPr>
          <a:xfrm>
            <a:off x="365760" y="1874520"/>
            <a:ext cx="146304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Encapsulate</a:t>
            </a:r>
            <a:endParaRPr lang="en-US" sz="1150" dirty="0"/>
          </a:p>
        </p:txBody>
      </p:sp>
      <p:sp>
        <p:nvSpPr>
          <p:cNvPr id="20" name="Shape 17"/>
          <p:cNvSpPr/>
          <p:nvPr/>
        </p:nvSpPr>
        <p:spPr>
          <a:xfrm>
            <a:off x="1828800" y="2167128"/>
            <a:ext cx="274320" cy="0"/>
          </a:xfrm>
          <a:prstGeom prst="line">
            <a:avLst/>
          </a:prstGeom>
          <a:noFill/>
          <a:ln w="19050">
            <a:solidFill>
              <a:srgbClr val="4A5A6A"/>
            </a:solidFill>
            <a:prstDash val="solid"/>
            <a:tailEnd type="triangle"/>
          </a:ln>
        </p:spPr>
      </p:sp>
      <p:sp>
        <p:nvSpPr>
          <p:cNvPr id="21" name="Text 18"/>
          <p:cNvSpPr txBox="1"/>
          <p:nvPr/>
        </p:nvSpPr>
        <p:spPr>
          <a:xfrm>
            <a:off x="2103120" y="1874520"/>
            <a:ext cx="146304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Routers forward</a:t>
            </a:r>
            <a:endParaRPr lang="en-US" sz="1150" dirty="0"/>
          </a:p>
        </p:txBody>
      </p:sp>
      <p:sp>
        <p:nvSpPr>
          <p:cNvPr id="22" name="Shape 19"/>
          <p:cNvSpPr/>
          <p:nvPr/>
        </p:nvSpPr>
        <p:spPr>
          <a:xfrm>
            <a:off x="3566160" y="2167128"/>
            <a:ext cx="274320" cy="0"/>
          </a:xfrm>
          <a:prstGeom prst="line">
            <a:avLst/>
          </a:prstGeom>
          <a:noFill/>
          <a:ln w="19050">
            <a:solidFill>
              <a:srgbClr val="4A5A6A"/>
            </a:solidFill>
            <a:prstDash val="solid"/>
            <a:tailEnd type="triangle"/>
          </a:ln>
        </p:spPr>
      </p:sp>
      <p:sp>
        <p:nvSpPr>
          <p:cNvPr id="23" name="Text 20"/>
          <p:cNvSpPr txBox="1"/>
          <p:nvPr/>
        </p:nvSpPr>
        <p:spPr>
          <a:xfrm>
            <a:off x="3840480" y="1874520"/>
            <a:ext cx="146304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Server decapsulates</a:t>
            </a:r>
            <a:endParaRPr lang="en-US" sz="1150" dirty="0"/>
          </a:p>
        </p:txBody>
      </p:sp>
      <p:sp>
        <p:nvSpPr>
          <p:cNvPr id="24" name="Shape 21"/>
          <p:cNvSpPr/>
          <p:nvPr/>
        </p:nvSpPr>
        <p:spPr>
          <a:xfrm>
            <a:off x="5303520" y="2167128"/>
            <a:ext cx="274320" cy="0"/>
          </a:xfrm>
          <a:prstGeom prst="line">
            <a:avLst/>
          </a:prstGeom>
          <a:noFill/>
          <a:ln w="19050">
            <a:solidFill>
              <a:srgbClr val="4A5A6A"/>
            </a:solidFill>
            <a:prstDash val="solid"/>
            <a:tailEnd type="triangle"/>
          </a:ln>
        </p:spPr>
      </p:sp>
      <p:sp>
        <p:nvSpPr>
          <p:cNvPr id="25" name="Text 22"/>
          <p:cNvSpPr txBox="1"/>
          <p:nvPr/>
        </p:nvSpPr>
        <p:spPr>
          <a:xfrm>
            <a:off x="5577840" y="1874520"/>
            <a:ext cx="1463040" cy="594360"/>
          </a:xfrm>
          <a:prstGeom prst="roundRect">
            <a:avLst>
              <a:gd name="adj" fmla="val 9231"/>
            </a:avLst>
          </a:prstGeom>
          <a:solidFill>
            <a:srgbClr val="0B1F3A"/>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Response returns</a:t>
            </a:r>
            <a:endParaRPr lang="en-US" sz="1150" dirty="0"/>
          </a:p>
        </p:txBody>
      </p:sp>
      <p:sp>
        <p:nvSpPr>
          <p:cNvPr id="26" name="Shape 23"/>
          <p:cNvSpPr/>
          <p:nvPr/>
        </p:nvSpPr>
        <p:spPr>
          <a:xfrm>
            <a:off x="7040880" y="2167128"/>
            <a:ext cx="274320" cy="0"/>
          </a:xfrm>
          <a:prstGeom prst="line">
            <a:avLst/>
          </a:prstGeom>
          <a:noFill/>
          <a:ln w="19050">
            <a:solidFill>
              <a:srgbClr val="4A5A6A"/>
            </a:solidFill>
            <a:prstDash val="solid"/>
            <a:tailEnd type="triangle"/>
          </a:ln>
        </p:spPr>
      </p:sp>
      <p:sp>
        <p:nvSpPr>
          <p:cNvPr id="27" name="Text 24"/>
          <p:cNvSpPr txBox="1"/>
          <p:nvPr/>
        </p:nvSpPr>
        <p:spPr>
          <a:xfrm>
            <a:off x="7315200" y="1874520"/>
            <a:ext cx="1463040" cy="594360"/>
          </a:xfrm>
          <a:prstGeom prst="roundRect">
            <a:avLst>
              <a:gd name="adj" fmla="val 9231"/>
            </a:avLst>
          </a:prstGeom>
          <a:solidFill>
            <a:srgbClr val="0E7C86"/>
          </a:solidFill>
          <a:ln/>
        </p:spPr>
        <p:txBody>
          <a:bodyPr wrap="square" lIns="38100" tIns="38100" rIns="38100" bIns="3810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Browser displays</a:t>
            </a:r>
            <a:endParaRPr lang="en-US" sz="1150" dirty="0"/>
          </a:p>
        </p:txBody>
      </p:sp>
      <p:sp>
        <p:nvSpPr>
          <p:cNvPr id="28" name="Shape 25"/>
          <p:cNvSpPr/>
          <p:nvPr/>
        </p:nvSpPr>
        <p:spPr>
          <a:xfrm>
            <a:off x="292608" y="2798064"/>
            <a:ext cx="8558784" cy="1773936"/>
          </a:xfrm>
          <a:prstGeom prst="roundRect">
            <a:avLst>
              <a:gd name="adj" fmla="val 4124"/>
            </a:avLst>
          </a:prstGeom>
          <a:solidFill>
            <a:srgbClr val="F7FAFC"/>
          </a:solidFill>
          <a:ln w="9525">
            <a:solidFill>
              <a:srgbClr val="D3DFE9"/>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457200" y="2926080"/>
            <a:ext cx="822960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Application: defines the HTTPS and DNS messages.</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Transport: delivers between processes using ports (TCP 443).</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Internet: IP addressing and routing between networks.</a:t>
            </a:r>
            <a:endParaRPr lang="en-US" sz="1400" dirty="0"/>
          </a:p>
          <a:p>
            <a:pPr marL="342900" indent="-342900">
              <a:spcAft>
                <a:spcPts val="500"/>
              </a:spcAft>
              <a:buSzPct val="100000"/>
              <a:buChar char="•"/>
            </a:pPr>
            <a:r>
              <a:rPr lang="en-US" sz="1400" dirty="0">
                <a:solidFill>
                  <a:srgbClr val="0B1F3A"/>
                </a:solidFill>
                <a:latin typeface="Calibri" pitchFamily="34" charset="0"/>
                <a:ea typeface="Calibri" pitchFamily="34" charset="-122"/>
                <a:cs typeface="Calibri" pitchFamily="34" charset="-120"/>
              </a:rPr>
              <a:t>Network Access: moves frames across each local link.</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502920"/>
          </a:xfrm>
          <a:prstGeom prst="rect">
            <a:avLst/>
          </a:prstGeom>
          <a:noFill/>
          <a:ln/>
        </p:spPr>
        <p:txBody>
          <a:bodyPr wrap="square" lIns="0" tIns="0" rIns="0" bIns="0" rtlCol="0" anchor="ctr"/>
          <a:lstStyle/>
          <a:p>
            <a:pPr indent="0" marL="0">
              <a:buNone/>
            </a:pPr>
            <a:r>
              <a:rPr lang="en-US" sz="2400" b="1" dirty="0">
                <a:solidFill>
                  <a:srgbClr val="0B1F3A"/>
                </a:solidFill>
                <a:latin typeface="Calibri" pitchFamily="34" charset="0"/>
                <a:ea typeface="Calibri" pitchFamily="34" charset="-122"/>
                <a:cs typeface="Calibri" pitchFamily="34" charset="-120"/>
              </a:rPr>
              <a:t>References</a:t>
            </a:r>
            <a:endParaRPr lang="en-US" sz="2400" dirty="0"/>
          </a:p>
        </p:txBody>
      </p:sp>
      <p:sp>
        <p:nvSpPr>
          <p:cNvPr id="3" name="Text 1"/>
          <p:cNvSpPr txBox="1"/>
          <p:nvPr/>
        </p:nvSpPr>
        <p:spPr>
          <a:xfrm>
            <a:off x="457200" y="914400"/>
            <a:ext cx="8229600" cy="2651760"/>
          </a:xfrm>
          <a:prstGeom prst="rect">
            <a:avLst/>
          </a:prstGeom>
          <a:noFill/>
          <a:ln/>
        </p:spPr>
        <p:txBody>
          <a:bodyPr wrap="square" lIns="0" tIns="0" rIns="0" bIns="0" rtlCol="0" anchor="t"/>
          <a:lstStyle/>
          <a:p>
            <a:pPr indent="0" marL="0">
              <a:spcAft>
                <a:spcPts val="600"/>
              </a:spcAft>
              <a:buNone/>
            </a:pPr>
            <a:r>
              <a:rPr lang="en-US" sz="1200" dirty="0">
                <a:solidFill>
                  <a:srgbClr val="0B1F3A"/>
                </a:solidFill>
                <a:latin typeface="Calibri" pitchFamily="34" charset="0"/>
                <a:ea typeface="Calibri" pitchFamily="34" charset="-122"/>
                <a:cs typeface="Calibri" pitchFamily="34" charset="-120"/>
              </a:rPr>
              <a:t>RFC 9293: Transmission Control Protocol (TCP). IETF, 2022. https://www.rfc-editor.org/info/rfc9293</a:t>
            </a:r>
            <a:endParaRPr lang="en-US" sz="1200" dirty="0"/>
          </a:p>
          <a:p>
            <a:pPr indent="0" marL="0">
              <a:spcAft>
                <a:spcPts val="600"/>
              </a:spcAft>
              <a:buNone/>
            </a:pPr>
            <a:r>
              <a:rPr lang="en-US" sz="1200" dirty="0">
                <a:solidFill>
                  <a:srgbClr val="0B1F3A"/>
                </a:solidFill>
                <a:latin typeface="Calibri" pitchFamily="34" charset="0"/>
                <a:ea typeface="Calibri" pitchFamily="34" charset="-122"/>
                <a:cs typeface="Calibri" pitchFamily="34" charset="-120"/>
              </a:rPr>
              <a:t>RFC 768: User Datagram Protocol. IETF, 1980. https://www.rfc-editor.org/info/rfc768</a:t>
            </a:r>
            <a:endParaRPr lang="en-US" sz="1200" dirty="0"/>
          </a:p>
          <a:p>
            <a:pPr indent="0" marL="0">
              <a:spcAft>
                <a:spcPts val="600"/>
              </a:spcAft>
              <a:buNone/>
            </a:pPr>
            <a:r>
              <a:rPr lang="en-US" sz="1200" dirty="0">
                <a:solidFill>
                  <a:srgbClr val="0B1F3A"/>
                </a:solidFill>
                <a:latin typeface="Calibri" pitchFamily="34" charset="0"/>
                <a:ea typeface="Calibri" pitchFamily="34" charset="-122"/>
                <a:cs typeface="Calibri" pitchFamily="34" charset="-120"/>
              </a:rPr>
              <a:t>RFC 791: Internet Protocol. IETF, 1981. https://www.rfc-editor.org/info/rfc791</a:t>
            </a:r>
            <a:endParaRPr lang="en-US" sz="1200" dirty="0"/>
          </a:p>
          <a:p>
            <a:pPr indent="0" marL="0">
              <a:spcAft>
                <a:spcPts val="600"/>
              </a:spcAft>
              <a:buNone/>
            </a:pPr>
            <a:r>
              <a:rPr lang="en-US" sz="1200" dirty="0">
                <a:solidFill>
                  <a:srgbClr val="0B1F3A"/>
                </a:solidFill>
                <a:latin typeface="Calibri" pitchFamily="34" charset="0"/>
                <a:ea typeface="Calibri" pitchFamily="34" charset="-122"/>
                <a:cs typeface="Calibri" pitchFamily="34" charset="-120"/>
              </a:rPr>
              <a:t>RFC 1035: Domain Names, Implementation and Specification. IETF, 1987. https://www.rfc-editor.org/info/rfc1035</a:t>
            </a:r>
            <a:endParaRPr lang="en-US" sz="1200" dirty="0"/>
          </a:p>
          <a:p>
            <a:pPr indent="0" marL="0">
              <a:spcAft>
                <a:spcPts val="600"/>
              </a:spcAft>
              <a:buNone/>
            </a:pPr>
            <a:r>
              <a:rPr lang="en-US" sz="1200" dirty="0">
                <a:solidFill>
                  <a:srgbClr val="0B1F3A"/>
                </a:solidFill>
                <a:latin typeface="Calibri" pitchFamily="34" charset="0"/>
                <a:ea typeface="Calibri" pitchFamily="34" charset="-122"/>
                <a:cs typeface="Calibri" pitchFamily="34" charset="-120"/>
              </a:rPr>
              <a:t>RFC 8446: The Transport Layer Security (TLS) Protocol Version 1.3. IETF, 2018. https://www.rfc-editor.org/info/rfc8446</a:t>
            </a:r>
            <a:endParaRPr lang="en-US" sz="1200" dirty="0"/>
          </a:p>
          <a:p>
            <a:pPr indent="0" marL="0">
              <a:spcAft>
                <a:spcPts val="600"/>
              </a:spcAft>
              <a:buNone/>
            </a:pPr>
            <a:r>
              <a:rPr lang="en-US" sz="1200" dirty="0">
                <a:solidFill>
                  <a:srgbClr val="0B1F3A"/>
                </a:solidFill>
                <a:latin typeface="Calibri" pitchFamily="34" charset="0"/>
                <a:ea typeface="Calibri" pitchFamily="34" charset="-122"/>
                <a:cs typeface="Calibri" pitchFamily="34" charset="-120"/>
              </a:rPr>
              <a:t>RFC 9114: HTTP/3. IETF, 2022. https://www.rfc-editor.org/info/rfc9114</a:t>
            </a:r>
            <a:endParaRPr lang="en-US" sz="1200" dirty="0"/>
          </a:p>
        </p:txBody>
      </p:sp>
      <p:sp>
        <p:nvSpPr>
          <p:cNvPr id="4" name="Text 2"/>
          <p:cNvSpPr txBox="1"/>
          <p:nvPr/>
        </p:nvSpPr>
        <p:spPr>
          <a:xfrm>
            <a:off x="457200" y="3749040"/>
            <a:ext cx="8229600" cy="822960"/>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AI-use declaration: An AI assistant was used to help organise the presentation, explain networking concepts and draft wording. I reviewed and verified the technical content against the references above and remain responsible for this submission.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2026-10-02T11:01:19Z</dcterms:created>
  <dcterms:modified xsi:type="dcterms:W3CDTF">2026-10-02T11:01:19Z</dcterms:modified>
</cp:coreProperties>
</file>